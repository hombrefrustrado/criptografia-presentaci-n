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3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8" r:id="rId13"/>
    <p:sldId id="282" r:id="rId14"/>
    <p:sldId id="269" r:id="rId15"/>
    <p:sldId id="280" r:id="rId16"/>
    <p:sldId id="281" r:id="rId17"/>
    <p:sldId id="270" r:id="rId18"/>
    <p:sldId id="285" r:id="rId19"/>
    <p:sldId id="287" r:id="rId20"/>
    <p:sldId id="271" r:id="rId21"/>
    <p:sldId id="289" r:id="rId22"/>
    <p:sldId id="286" r:id="rId23"/>
    <p:sldId id="278" r:id="rId24"/>
    <p:sldId id="292" r:id="rId25"/>
    <p:sldId id="288" r:id="rId26"/>
    <p:sldId id="272" r:id="rId27"/>
    <p:sldId id="275" r:id="rId28"/>
    <p:sldId id="283" r:id="rId29"/>
    <p:sldId id="295" r:id="rId30"/>
    <p:sldId id="284" r:id="rId31"/>
    <p:sldId id="294" r:id="rId32"/>
    <p:sldId id="279" r:id="rId33"/>
    <p:sldId id="273" r:id="rId34"/>
    <p:sldId id="276" r:id="rId35"/>
    <p:sldId id="290" r:id="rId36"/>
    <p:sldId id="291" r:id="rId37"/>
    <p:sldId id="293" r:id="rId38"/>
    <p:sldId id="274" r:id="rId3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svg"/><Relationship Id="rId1" Type="http://schemas.openxmlformats.org/officeDocument/2006/relationships/image" Target="../media/image38.png"/><Relationship Id="rId4" Type="http://schemas.openxmlformats.org/officeDocument/2006/relationships/image" Target="../media/image41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svg"/><Relationship Id="rId1" Type="http://schemas.openxmlformats.org/officeDocument/2006/relationships/image" Target="../media/image38.png"/><Relationship Id="rId4" Type="http://schemas.openxmlformats.org/officeDocument/2006/relationships/image" Target="../media/image4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E95F20C6-D759-4405-A491-DEFF09F3F62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s-ES" dirty="0"/>
            <a:t>Funciones hash</a:t>
          </a:r>
        </a:p>
      </dgm:t>
    </dgm:pt>
    <dgm:pt modelId="{1D4CBC59-6B45-4FA4-A910-697968CAC371}" type="parTrans" cxnId="{6C14736D-CF90-48C6-85A3-4F41E6D9DABB}">
      <dgm:prSet/>
      <dgm:spPr/>
      <dgm:t>
        <a:bodyPr/>
        <a:lstStyle/>
        <a:p>
          <a:endParaRPr lang="es-ES"/>
        </a:p>
      </dgm:t>
    </dgm:pt>
    <dgm:pt modelId="{CE5F9C65-D672-4B46-88E9-C0C91DA3FAA3}" type="sibTrans" cxnId="{6C14736D-CF90-48C6-85A3-4F41E6D9DABB}">
      <dgm:prSet/>
      <dgm:spPr/>
      <dgm:t>
        <a:bodyPr/>
        <a:lstStyle/>
        <a:p>
          <a:endParaRPr lang="es-E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5"/>
      <dgm:spPr/>
    </dgm:pt>
    <dgm:pt modelId="{AB321FE4-06FB-4CEB-A173-BEBA5251C48A}" type="pres">
      <dgm:prSet presAssocID="{6A68B4AB-3B4F-4AEE-8CD7-7E65D81AB0D1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5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5"/>
      <dgm:spPr/>
    </dgm:pt>
    <dgm:pt modelId="{2D843349-B2B6-4A17-8774-72FF6C30145D}" type="pres">
      <dgm:prSet presAssocID="{55A374DE-D570-4CCC-9A78-690F9310A84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5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5"/>
      <dgm:spPr/>
    </dgm:pt>
    <dgm:pt modelId="{1E52C17A-8C16-45CD-8862-970F6B3A3EA7}" type="pres">
      <dgm:prSet presAssocID="{D1C3EEB2-C757-48CE-8ACD-7B29DCAB67AB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5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5"/>
      <dgm:spPr/>
    </dgm:pt>
    <dgm:pt modelId="{64C2486C-0847-4640-9FDA-664B240A3245}" type="pres">
      <dgm:prSet presAssocID="{E2BC92A4-C2B1-41AB-8DEC-BC05ECC7B92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5">
        <dgm:presLayoutVars>
          <dgm:chMax val="1"/>
          <dgm:chPref val="1"/>
        </dgm:presLayoutVars>
      </dgm:prSet>
      <dgm:spPr/>
    </dgm:pt>
    <dgm:pt modelId="{2BAA731E-DC75-416E-AC64-350B9893991F}" type="pres">
      <dgm:prSet presAssocID="{CEFC1371-4AE7-477D-AFD0-215FD93F4F7E}" presName="sibTrans" presStyleCnt="0"/>
      <dgm:spPr/>
    </dgm:pt>
    <dgm:pt modelId="{9F65B210-FBE1-42CD-B2EE-2F4787E17B52}" type="pres">
      <dgm:prSet presAssocID="{E95F20C6-D759-4405-A491-DEFF09F3F620}" presName="compNode" presStyleCnt="0"/>
      <dgm:spPr/>
    </dgm:pt>
    <dgm:pt modelId="{2CF8E5C3-B811-49DC-9062-10B1AEE31BFF}" type="pres">
      <dgm:prSet presAssocID="{E95F20C6-D759-4405-A491-DEFF09F3F620}" presName="iconBgRect" presStyleLbl="bgShp" presStyleIdx="4" presStyleCnt="5"/>
      <dgm:spPr/>
    </dgm:pt>
    <dgm:pt modelId="{A1E1D24A-CC69-42D1-A36C-2D9439521B2F}" type="pres">
      <dgm:prSet presAssocID="{E95F20C6-D759-4405-A491-DEFF09F3F620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 con relleno sólido"/>
        </a:ext>
      </dgm:extLst>
    </dgm:pt>
    <dgm:pt modelId="{B2F601C0-C097-4C6A-AD97-FDA3E4A15235}" type="pres">
      <dgm:prSet presAssocID="{E95F20C6-D759-4405-A491-DEFF09F3F620}" presName="spaceRect" presStyleCnt="0"/>
      <dgm:spPr/>
    </dgm:pt>
    <dgm:pt modelId="{16124192-6DA7-4C3F-A66E-D6375B54AB96}" type="pres">
      <dgm:prSet presAssocID="{E95F20C6-D759-4405-A491-DEFF09F3F620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1516A613-3C04-4402-A996-FCCF17A215F7}" type="presOf" srcId="{E95F20C6-D759-4405-A491-DEFF09F3F620}" destId="{16124192-6DA7-4C3F-A66E-D6375B54AB96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6C14736D-CF90-48C6-85A3-4F41E6D9DABB}" srcId="{FA77478D-073D-487A-80E1-A4806E271B55}" destId="{E95F20C6-D759-4405-A491-DEFF09F3F620}" srcOrd="4" destOrd="0" parTransId="{1D4CBC59-6B45-4FA4-A910-697968CAC371}" sibTransId="{CE5F9C65-D672-4B46-88E9-C0C91DA3FAA3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  <dgm:cxn modelId="{B6C4857B-C338-4BDA-9134-A4D85BBFA7E5}" type="presParOf" srcId="{33F0DC32-DB60-49E6-B84C-9764F2293FFB}" destId="{2BAA731E-DC75-416E-AC64-350B9893991F}" srcOrd="7" destOrd="0" presId="urn:microsoft.com/office/officeart/2018/5/layout/IconCircleLabelList"/>
    <dgm:cxn modelId="{250097CF-D01C-4E5D-96F6-38793FF12D07}" type="presParOf" srcId="{33F0DC32-DB60-49E6-B84C-9764F2293FFB}" destId="{9F65B210-FBE1-42CD-B2EE-2F4787E17B52}" srcOrd="8" destOrd="0" presId="urn:microsoft.com/office/officeart/2018/5/layout/IconCircleLabelList"/>
    <dgm:cxn modelId="{71046966-F28B-4512-870E-42E5D72FFBDF}" type="presParOf" srcId="{9F65B210-FBE1-42CD-B2EE-2F4787E17B52}" destId="{2CF8E5C3-B811-49DC-9062-10B1AEE31BFF}" srcOrd="0" destOrd="0" presId="urn:microsoft.com/office/officeart/2018/5/layout/IconCircleLabelList"/>
    <dgm:cxn modelId="{8CFDAD35-9561-4F3D-86A7-B8C6B3A42B20}" type="presParOf" srcId="{9F65B210-FBE1-42CD-B2EE-2F4787E17B52}" destId="{A1E1D24A-CC69-42D1-A36C-2D9439521B2F}" srcOrd="1" destOrd="0" presId="urn:microsoft.com/office/officeart/2018/5/layout/IconCircleLabelList"/>
    <dgm:cxn modelId="{23602292-B618-4BFF-95FE-E5F8A27004BD}" type="presParOf" srcId="{9F65B210-FBE1-42CD-B2EE-2F4787E17B52}" destId="{B2F601C0-C097-4C6A-AD97-FDA3E4A15235}" srcOrd="2" destOrd="0" presId="urn:microsoft.com/office/officeart/2018/5/layout/IconCircleLabelList"/>
    <dgm:cxn modelId="{E6F4EF38-62AA-4461-A85B-B820E50DEE87}" type="presParOf" srcId="{9F65B210-FBE1-42CD-B2EE-2F4787E17B52}" destId="{16124192-6DA7-4C3F-A66E-D6375B54AB9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DA56B47-EBB4-4AD9-9DF7-7CDDCEAAA44B}" type="presOf" srcId="{B52B834A-C645-4CB4-ADEC-974753BAF28A}" destId="{A67F11BA-1796-4316-98C3-724AD5471026}" srcOrd="0" destOrd="0" presId="urn:microsoft.com/office/officeart/2018/2/layout/IconVerticalSolidList"/>
    <dgm:cxn modelId="{9120406C-1F63-48AD-BB9E-6EED5C703AE9}" type="presOf" srcId="{034D43D0-4238-426B-8E1A-6CB5933FB4E4}" destId="{3DA01918-BB0B-46A2-8119-8A98EE7CE572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3F493CD4-463C-46D2-86BD-FFB06DB9CA78}" type="presOf" srcId="{607301D3-A943-45B1-B135-A655F66DD96E}" destId="{DA0506CA-A687-40BD-B2C1-C7C957EDB38E}" srcOrd="0" destOrd="0" presId="urn:microsoft.com/office/officeart/2018/2/layout/IconVerticalSolidList"/>
    <dgm:cxn modelId="{137491EE-DA71-4821-87EC-642EA8204EDF}" type="presOf" srcId="{224F3E83-F8DE-430C-80E5-E7D5D8F28CE8}" destId="{545CC187-B9C9-4AE4-AE57-7E5B3F46457A}" srcOrd="0" destOrd="0" presId="urn:microsoft.com/office/officeart/2018/2/layout/IconVerticalSolidList"/>
    <dgm:cxn modelId="{1B12F80C-26CB-4AAE-ADF8-037B23F91BF5}" type="presParOf" srcId="{545CC187-B9C9-4AE4-AE57-7E5B3F46457A}" destId="{1E06D0C2-9071-4EBD-9848-0F2668FDA991}" srcOrd="0" destOrd="0" presId="urn:microsoft.com/office/officeart/2018/2/layout/IconVerticalSolidList"/>
    <dgm:cxn modelId="{3670E18A-EAC3-4C8B-9770-CD338E6DBA4D}" type="presParOf" srcId="{1E06D0C2-9071-4EBD-9848-0F2668FDA991}" destId="{C98B24A0-8585-4B6C-8CB4-DE6C09CB7557}" srcOrd="0" destOrd="0" presId="urn:microsoft.com/office/officeart/2018/2/layout/IconVerticalSolidList"/>
    <dgm:cxn modelId="{C164122C-9CFE-4A63-826B-645CE0CFD590}" type="presParOf" srcId="{1E06D0C2-9071-4EBD-9848-0F2668FDA991}" destId="{F76BB03D-0314-4E66-8DFD-6175354527B3}" srcOrd="1" destOrd="0" presId="urn:microsoft.com/office/officeart/2018/2/layout/IconVerticalSolidList"/>
    <dgm:cxn modelId="{E35996FD-CB19-4731-A8F6-5B61CF70DE95}" type="presParOf" srcId="{1E06D0C2-9071-4EBD-9848-0F2668FDA991}" destId="{AAA5EE3A-43D5-48D3-AFD1-7438C38DA3D7}" srcOrd="2" destOrd="0" presId="urn:microsoft.com/office/officeart/2018/2/layout/IconVerticalSolidList"/>
    <dgm:cxn modelId="{E9147397-CE95-46C8-8AB6-3920064F3305}" type="presParOf" srcId="{1E06D0C2-9071-4EBD-9848-0F2668FDA991}" destId="{3DA01918-BB0B-46A2-8119-8A98EE7CE572}" srcOrd="3" destOrd="0" presId="urn:microsoft.com/office/officeart/2018/2/layout/IconVerticalSolidList"/>
    <dgm:cxn modelId="{BF614804-1273-4036-B97C-11D777188B6C}" type="presParOf" srcId="{545CC187-B9C9-4AE4-AE57-7E5B3F46457A}" destId="{2E4DFBDB-F17A-44D8-BD72-15E1105BF85C}" srcOrd="1" destOrd="0" presId="urn:microsoft.com/office/officeart/2018/2/layout/IconVerticalSolidList"/>
    <dgm:cxn modelId="{1EB9916B-E745-4AFA-9E35-178961BB620A}" type="presParOf" srcId="{545CC187-B9C9-4AE4-AE57-7E5B3F46457A}" destId="{6B8BD792-1A64-4A42-BC02-F1D28EEA1E90}" srcOrd="2" destOrd="0" presId="urn:microsoft.com/office/officeart/2018/2/layout/IconVerticalSolidList"/>
    <dgm:cxn modelId="{DB3B7A21-75B4-40D2-9F5F-D539043BDAC6}" type="presParOf" srcId="{6B8BD792-1A64-4A42-BC02-F1D28EEA1E90}" destId="{6A6CC891-D06F-4590-A4A6-99FEAA95F274}" srcOrd="0" destOrd="0" presId="urn:microsoft.com/office/officeart/2018/2/layout/IconVerticalSolidList"/>
    <dgm:cxn modelId="{02322F0C-AE84-43F6-89D2-268078D158B0}" type="presParOf" srcId="{6B8BD792-1A64-4A42-BC02-F1D28EEA1E90}" destId="{D0A11E2A-EA85-4EF4-B7A5-FF13665C72A1}" srcOrd="1" destOrd="0" presId="urn:microsoft.com/office/officeart/2018/2/layout/IconVerticalSolidList"/>
    <dgm:cxn modelId="{D88A83EE-C7D3-4BF6-8539-34270B9955F0}" type="presParOf" srcId="{6B8BD792-1A64-4A42-BC02-F1D28EEA1E90}" destId="{3B3C17F8-8F98-4658-8982-CE8BFF8F1F17}" srcOrd="2" destOrd="0" presId="urn:microsoft.com/office/officeart/2018/2/layout/IconVerticalSolidList"/>
    <dgm:cxn modelId="{9ADA1945-BF83-459C-9B90-D2452995A7AD}" type="presParOf" srcId="{6B8BD792-1A64-4A42-BC02-F1D28EEA1E90}" destId="{DA0506CA-A687-40BD-B2C1-C7C957EDB38E}" srcOrd="3" destOrd="0" presId="urn:microsoft.com/office/officeart/2018/2/layout/IconVerticalSolidList"/>
    <dgm:cxn modelId="{9BED8DF2-A3B7-4F3B-810C-B417CE14C26D}" type="presParOf" srcId="{545CC187-B9C9-4AE4-AE57-7E5B3F46457A}" destId="{69766A47-6702-4436-9AAD-5284ABF9C117}" srcOrd="3" destOrd="0" presId="urn:microsoft.com/office/officeart/2018/2/layout/IconVerticalSolidList"/>
    <dgm:cxn modelId="{9A2CE6D4-2F96-4DED-89AF-414B3902B2CE}" type="presParOf" srcId="{545CC187-B9C9-4AE4-AE57-7E5B3F46457A}" destId="{8C836CE9-B0E9-4C93-B51D-8E3473404483}" srcOrd="4" destOrd="0" presId="urn:microsoft.com/office/officeart/2018/2/layout/IconVerticalSolidList"/>
    <dgm:cxn modelId="{F2A8BB36-CB13-460F-AE6F-EEB4263D67BA}" type="presParOf" srcId="{8C836CE9-B0E9-4C93-B51D-8E3473404483}" destId="{E4C30A4B-8722-4AAC-91B5-217193B4B05F}" srcOrd="0" destOrd="0" presId="urn:microsoft.com/office/officeart/2018/2/layout/IconVerticalSolidList"/>
    <dgm:cxn modelId="{143719AE-7219-46BE-A90B-F5DC4BABC966}" type="presParOf" srcId="{8C836CE9-B0E9-4C93-B51D-8E3473404483}" destId="{1522CA61-73E4-4050-9AAE-81C929CB1834}" srcOrd="1" destOrd="0" presId="urn:microsoft.com/office/officeart/2018/2/layout/IconVerticalSolidList"/>
    <dgm:cxn modelId="{F44FE26D-1F33-4702-88D6-0F8A6BE7401E}" type="presParOf" srcId="{8C836CE9-B0E9-4C93-B51D-8E3473404483}" destId="{B1011C1F-B283-4DBE-B153-E9FCAEA803D8}" srcOrd="2" destOrd="0" presId="urn:microsoft.com/office/officeart/2018/2/layout/IconVerticalSolidList"/>
    <dgm:cxn modelId="{80BDF5A3-6251-4777-932E-AA82D479239D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653475-6666-40B3-855F-6038B8845506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A99A6EE9-E12A-416F-B804-AE7C792C2E8D}">
      <dgm:prSet/>
      <dgm:spPr/>
      <dgm:t>
        <a:bodyPr/>
        <a:lstStyle/>
        <a:p>
          <a:pPr>
            <a:defRPr b="1"/>
          </a:pPr>
          <a:r>
            <a:rPr lang="es-ES" dirty="0"/>
            <a:t>Cifrar</a:t>
          </a:r>
          <a:endParaRPr lang="en-US" dirty="0"/>
        </a:p>
      </dgm:t>
    </dgm:pt>
    <dgm:pt modelId="{B4698B80-BDEF-44B8-A851-7A8832A1A5CE}" type="parTrans" cxnId="{11CAF680-ADB6-4F38-9FDE-FD09530F5DAA}">
      <dgm:prSet/>
      <dgm:spPr/>
      <dgm:t>
        <a:bodyPr/>
        <a:lstStyle/>
        <a:p>
          <a:endParaRPr lang="en-US"/>
        </a:p>
      </dgm:t>
    </dgm:pt>
    <dgm:pt modelId="{BB336DEF-0A41-4C50-830B-051E70ABAF0C}" type="sibTrans" cxnId="{11CAF680-ADB6-4F38-9FDE-FD09530F5DAA}">
      <dgm:prSet/>
      <dgm:spPr/>
      <dgm:t>
        <a:bodyPr/>
        <a:lstStyle/>
        <a:p>
          <a:endParaRPr lang="en-US"/>
        </a:p>
      </dgm:t>
    </dgm:pt>
    <dgm:pt modelId="{ADCC4749-6A00-41BD-AE27-0819DD3303AB}">
      <dgm:prSet/>
      <dgm:spPr/>
      <dgm:t>
        <a:bodyPr/>
        <a:lstStyle/>
        <a:p>
          <a:r>
            <a:rPr lang="es-ES" dirty="0"/>
            <a:t>RSA sirve para cifrar y descifrar información.</a:t>
          </a:r>
          <a:endParaRPr lang="en-US" dirty="0"/>
        </a:p>
      </dgm:t>
    </dgm:pt>
    <dgm:pt modelId="{1697DCD0-4999-4DF5-B392-0D7D7FF68A8F}" type="parTrans" cxnId="{67499677-8CF2-46B4-A333-31089C9F0AAC}">
      <dgm:prSet/>
      <dgm:spPr/>
      <dgm:t>
        <a:bodyPr/>
        <a:lstStyle/>
        <a:p>
          <a:endParaRPr lang="en-US"/>
        </a:p>
      </dgm:t>
    </dgm:pt>
    <dgm:pt modelId="{91B5DDED-2D5F-4077-BF82-EFD9301F16DA}" type="sibTrans" cxnId="{67499677-8CF2-46B4-A333-31089C9F0AAC}">
      <dgm:prSet/>
      <dgm:spPr/>
      <dgm:t>
        <a:bodyPr/>
        <a:lstStyle/>
        <a:p>
          <a:endParaRPr lang="en-US"/>
        </a:p>
      </dgm:t>
    </dgm:pt>
    <dgm:pt modelId="{36FC2824-DBDD-4C45-B540-5D9332BA13B4}">
      <dgm:prSet/>
      <dgm:spPr/>
      <dgm:t>
        <a:bodyPr/>
        <a:lstStyle/>
        <a:p>
          <a:pPr>
            <a:defRPr b="1"/>
          </a:pPr>
          <a:r>
            <a:rPr lang="es-ES" dirty="0"/>
            <a:t>Firmar</a:t>
          </a:r>
          <a:endParaRPr lang="en-US" dirty="0"/>
        </a:p>
      </dgm:t>
    </dgm:pt>
    <dgm:pt modelId="{363012B8-3C70-473E-896D-E33407BBD2CE}" type="parTrans" cxnId="{77797227-E27F-439C-ACB8-4242E5B3D66A}">
      <dgm:prSet/>
      <dgm:spPr/>
      <dgm:t>
        <a:bodyPr/>
        <a:lstStyle/>
        <a:p>
          <a:endParaRPr lang="en-US"/>
        </a:p>
      </dgm:t>
    </dgm:pt>
    <dgm:pt modelId="{601CCBDA-9773-4AF4-B6A2-347DB10D22E5}" type="sibTrans" cxnId="{77797227-E27F-439C-ACB8-4242E5B3D66A}">
      <dgm:prSet/>
      <dgm:spPr/>
      <dgm:t>
        <a:bodyPr/>
        <a:lstStyle/>
        <a:p>
          <a:endParaRPr lang="en-US"/>
        </a:p>
      </dgm:t>
    </dgm:pt>
    <dgm:pt modelId="{F0B42E0D-40C2-4F00-AF36-B354FAFED658}">
      <dgm:prSet/>
      <dgm:spPr/>
      <dgm:t>
        <a:bodyPr/>
        <a:lstStyle/>
        <a:p>
          <a:r>
            <a:rPr lang="es-ES" dirty="0"/>
            <a:t>También si aplicamos la función con clave privada lo que hacemos es firmar la información para decir que nosotros hemos sido quien la ha emitido. </a:t>
          </a:r>
          <a:endParaRPr lang="en-US" dirty="0"/>
        </a:p>
      </dgm:t>
    </dgm:pt>
    <dgm:pt modelId="{C2ED0F3C-5EFC-4549-A9A4-BCC1FF7CE709}" type="parTrans" cxnId="{EB67282F-F4D4-4CA0-9BE3-5D932EFABE81}">
      <dgm:prSet/>
      <dgm:spPr/>
      <dgm:t>
        <a:bodyPr/>
        <a:lstStyle/>
        <a:p>
          <a:endParaRPr lang="en-US"/>
        </a:p>
      </dgm:t>
    </dgm:pt>
    <dgm:pt modelId="{E633F85F-2A00-4D1D-A4A3-B13718869D34}" type="sibTrans" cxnId="{EB67282F-F4D4-4CA0-9BE3-5D932EFABE81}">
      <dgm:prSet/>
      <dgm:spPr/>
      <dgm:t>
        <a:bodyPr/>
        <a:lstStyle/>
        <a:p>
          <a:endParaRPr lang="en-US"/>
        </a:p>
      </dgm:t>
    </dgm:pt>
    <dgm:pt modelId="{A36FF52E-1AF5-4499-94D0-EEAC5CB383CA}" type="pres">
      <dgm:prSet presAssocID="{14653475-6666-40B3-855F-6038B8845506}" presName="root" presStyleCnt="0">
        <dgm:presLayoutVars>
          <dgm:dir/>
          <dgm:resizeHandles val="exact"/>
        </dgm:presLayoutVars>
      </dgm:prSet>
      <dgm:spPr/>
    </dgm:pt>
    <dgm:pt modelId="{DAE42939-73A3-42C8-91EB-F37D4453D29D}" type="pres">
      <dgm:prSet presAssocID="{A99A6EE9-E12A-416F-B804-AE7C792C2E8D}" presName="compNode" presStyleCnt="0"/>
      <dgm:spPr/>
    </dgm:pt>
    <dgm:pt modelId="{BE41307F-4609-4DA1-92E6-F1CD60E16F64}" type="pres">
      <dgm:prSet presAssocID="{A99A6EE9-E12A-416F-B804-AE7C792C2E8D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E22AC201-640A-40AC-88F0-57B65A4D4C0D}" type="pres">
      <dgm:prSet presAssocID="{A99A6EE9-E12A-416F-B804-AE7C792C2E8D}" presName="iconSpace" presStyleCnt="0"/>
      <dgm:spPr/>
    </dgm:pt>
    <dgm:pt modelId="{F8034362-D833-4994-9A93-0DFE286E66E4}" type="pres">
      <dgm:prSet presAssocID="{A99A6EE9-E12A-416F-B804-AE7C792C2E8D}" presName="parTx" presStyleLbl="revTx" presStyleIdx="0" presStyleCnt="4">
        <dgm:presLayoutVars>
          <dgm:chMax val="0"/>
          <dgm:chPref val="0"/>
        </dgm:presLayoutVars>
      </dgm:prSet>
      <dgm:spPr/>
    </dgm:pt>
    <dgm:pt modelId="{9C93133B-197D-4C30-8617-B0B80B4BB8CB}" type="pres">
      <dgm:prSet presAssocID="{A99A6EE9-E12A-416F-B804-AE7C792C2E8D}" presName="txSpace" presStyleCnt="0"/>
      <dgm:spPr/>
    </dgm:pt>
    <dgm:pt modelId="{8F90CF00-E32C-47AD-82BA-2A1E06B29D64}" type="pres">
      <dgm:prSet presAssocID="{A99A6EE9-E12A-416F-B804-AE7C792C2E8D}" presName="desTx" presStyleLbl="revTx" presStyleIdx="1" presStyleCnt="4">
        <dgm:presLayoutVars/>
      </dgm:prSet>
      <dgm:spPr/>
    </dgm:pt>
    <dgm:pt modelId="{5F624C8A-AEF1-4019-9C7A-16A1878DB061}" type="pres">
      <dgm:prSet presAssocID="{BB336DEF-0A41-4C50-830B-051E70ABAF0C}" presName="sibTrans" presStyleCnt="0"/>
      <dgm:spPr/>
    </dgm:pt>
    <dgm:pt modelId="{1E25E05F-1E27-40D0-B9C4-391C204BC306}" type="pres">
      <dgm:prSet presAssocID="{36FC2824-DBDD-4C45-B540-5D9332BA13B4}" presName="compNode" presStyleCnt="0"/>
      <dgm:spPr/>
    </dgm:pt>
    <dgm:pt modelId="{40186866-01A9-4EC4-9412-6FAD4537D0B5}" type="pres">
      <dgm:prSet presAssocID="{36FC2824-DBDD-4C45-B540-5D9332BA13B4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CDC841D8-DF9E-4BCB-8993-0AB1B88C5521}" type="pres">
      <dgm:prSet presAssocID="{36FC2824-DBDD-4C45-B540-5D9332BA13B4}" presName="iconSpace" presStyleCnt="0"/>
      <dgm:spPr/>
    </dgm:pt>
    <dgm:pt modelId="{403A7BA3-E739-4585-A022-5AD0058551A5}" type="pres">
      <dgm:prSet presAssocID="{36FC2824-DBDD-4C45-B540-5D9332BA13B4}" presName="parTx" presStyleLbl="revTx" presStyleIdx="2" presStyleCnt="4">
        <dgm:presLayoutVars>
          <dgm:chMax val="0"/>
          <dgm:chPref val="0"/>
        </dgm:presLayoutVars>
      </dgm:prSet>
      <dgm:spPr/>
    </dgm:pt>
    <dgm:pt modelId="{151F0506-2D47-465C-B6BA-7F4C20B8D043}" type="pres">
      <dgm:prSet presAssocID="{36FC2824-DBDD-4C45-B540-5D9332BA13B4}" presName="txSpace" presStyleCnt="0"/>
      <dgm:spPr/>
    </dgm:pt>
    <dgm:pt modelId="{84105D38-168B-4EAC-95C3-C563665F908C}" type="pres">
      <dgm:prSet presAssocID="{36FC2824-DBDD-4C45-B540-5D9332BA13B4}" presName="desTx" presStyleLbl="revTx" presStyleIdx="3" presStyleCnt="4">
        <dgm:presLayoutVars/>
      </dgm:prSet>
      <dgm:spPr/>
    </dgm:pt>
  </dgm:ptLst>
  <dgm:cxnLst>
    <dgm:cxn modelId="{77797227-E27F-439C-ACB8-4242E5B3D66A}" srcId="{14653475-6666-40B3-855F-6038B8845506}" destId="{36FC2824-DBDD-4C45-B540-5D9332BA13B4}" srcOrd="1" destOrd="0" parTransId="{363012B8-3C70-473E-896D-E33407BBD2CE}" sibTransId="{601CCBDA-9773-4AF4-B6A2-347DB10D22E5}"/>
    <dgm:cxn modelId="{EB67282F-F4D4-4CA0-9BE3-5D932EFABE81}" srcId="{36FC2824-DBDD-4C45-B540-5D9332BA13B4}" destId="{F0B42E0D-40C2-4F00-AF36-B354FAFED658}" srcOrd="0" destOrd="0" parTransId="{C2ED0F3C-5EFC-4549-A9A4-BCC1FF7CE709}" sibTransId="{E633F85F-2A00-4D1D-A4A3-B13718869D34}"/>
    <dgm:cxn modelId="{67499677-8CF2-46B4-A333-31089C9F0AAC}" srcId="{A99A6EE9-E12A-416F-B804-AE7C792C2E8D}" destId="{ADCC4749-6A00-41BD-AE27-0819DD3303AB}" srcOrd="0" destOrd="0" parTransId="{1697DCD0-4999-4DF5-B392-0D7D7FF68A8F}" sibTransId="{91B5DDED-2D5F-4077-BF82-EFD9301F16DA}"/>
    <dgm:cxn modelId="{5309567A-5FF3-4A9B-A153-AEA869B37C6F}" type="presOf" srcId="{ADCC4749-6A00-41BD-AE27-0819DD3303AB}" destId="{8F90CF00-E32C-47AD-82BA-2A1E06B29D64}" srcOrd="0" destOrd="0" presId="urn:microsoft.com/office/officeart/2018/5/layout/CenteredIconLabelDescriptionList"/>
    <dgm:cxn modelId="{BC6E1B7C-B536-4AF2-9D7A-E8D253E434F7}" type="presOf" srcId="{A99A6EE9-E12A-416F-B804-AE7C792C2E8D}" destId="{F8034362-D833-4994-9A93-0DFE286E66E4}" srcOrd="0" destOrd="0" presId="urn:microsoft.com/office/officeart/2018/5/layout/CenteredIconLabelDescriptionList"/>
    <dgm:cxn modelId="{11CAF680-ADB6-4F38-9FDE-FD09530F5DAA}" srcId="{14653475-6666-40B3-855F-6038B8845506}" destId="{A99A6EE9-E12A-416F-B804-AE7C792C2E8D}" srcOrd="0" destOrd="0" parTransId="{B4698B80-BDEF-44B8-A851-7A8832A1A5CE}" sibTransId="{BB336DEF-0A41-4C50-830B-051E70ABAF0C}"/>
    <dgm:cxn modelId="{178E5ABC-ED6A-4AFC-AA34-1091A1C84455}" type="presOf" srcId="{14653475-6666-40B3-855F-6038B8845506}" destId="{A36FF52E-1AF5-4499-94D0-EEAC5CB383CA}" srcOrd="0" destOrd="0" presId="urn:microsoft.com/office/officeart/2018/5/layout/CenteredIconLabelDescriptionList"/>
    <dgm:cxn modelId="{7A6919C3-031E-40E0-B667-B73CB9345256}" type="presOf" srcId="{36FC2824-DBDD-4C45-B540-5D9332BA13B4}" destId="{403A7BA3-E739-4585-A022-5AD0058551A5}" srcOrd="0" destOrd="0" presId="urn:microsoft.com/office/officeart/2018/5/layout/CenteredIconLabelDescriptionList"/>
    <dgm:cxn modelId="{059B47CD-0876-4A3E-9470-2BB7DE447C35}" type="presOf" srcId="{F0B42E0D-40C2-4F00-AF36-B354FAFED658}" destId="{84105D38-168B-4EAC-95C3-C563665F908C}" srcOrd="0" destOrd="0" presId="urn:microsoft.com/office/officeart/2018/5/layout/CenteredIconLabelDescriptionList"/>
    <dgm:cxn modelId="{E4CEDE52-40FC-4DFA-B394-408615E71A4C}" type="presParOf" srcId="{A36FF52E-1AF5-4499-94D0-EEAC5CB383CA}" destId="{DAE42939-73A3-42C8-91EB-F37D4453D29D}" srcOrd="0" destOrd="0" presId="urn:microsoft.com/office/officeart/2018/5/layout/CenteredIconLabelDescriptionList"/>
    <dgm:cxn modelId="{50946C6C-8439-4888-B327-C0683338E859}" type="presParOf" srcId="{DAE42939-73A3-42C8-91EB-F37D4453D29D}" destId="{BE41307F-4609-4DA1-92E6-F1CD60E16F64}" srcOrd="0" destOrd="0" presId="urn:microsoft.com/office/officeart/2018/5/layout/CenteredIconLabelDescriptionList"/>
    <dgm:cxn modelId="{B6A519C6-013D-4C7A-8A32-3581D66C8886}" type="presParOf" srcId="{DAE42939-73A3-42C8-91EB-F37D4453D29D}" destId="{E22AC201-640A-40AC-88F0-57B65A4D4C0D}" srcOrd="1" destOrd="0" presId="urn:microsoft.com/office/officeart/2018/5/layout/CenteredIconLabelDescriptionList"/>
    <dgm:cxn modelId="{99984133-25B8-43F8-82CD-6ED13DC32E60}" type="presParOf" srcId="{DAE42939-73A3-42C8-91EB-F37D4453D29D}" destId="{F8034362-D833-4994-9A93-0DFE286E66E4}" srcOrd="2" destOrd="0" presId="urn:microsoft.com/office/officeart/2018/5/layout/CenteredIconLabelDescriptionList"/>
    <dgm:cxn modelId="{EAAFDEB9-46D6-4005-AB8E-D85682C2F5A6}" type="presParOf" srcId="{DAE42939-73A3-42C8-91EB-F37D4453D29D}" destId="{9C93133B-197D-4C30-8617-B0B80B4BB8CB}" srcOrd="3" destOrd="0" presId="urn:microsoft.com/office/officeart/2018/5/layout/CenteredIconLabelDescriptionList"/>
    <dgm:cxn modelId="{BCBCDEE4-1D2F-4598-9AB5-D223D898E1A1}" type="presParOf" srcId="{DAE42939-73A3-42C8-91EB-F37D4453D29D}" destId="{8F90CF00-E32C-47AD-82BA-2A1E06B29D64}" srcOrd="4" destOrd="0" presId="urn:microsoft.com/office/officeart/2018/5/layout/CenteredIconLabelDescriptionList"/>
    <dgm:cxn modelId="{45904F42-649B-4580-908D-4CBA7CF1BF01}" type="presParOf" srcId="{A36FF52E-1AF5-4499-94D0-EEAC5CB383CA}" destId="{5F624C8A-AEF1-4019-9C7A-16A1878DB061}" srcOrd="1" destOrd="0" presId="urn:microsoft.com/office/officeart/2018/5/layout/CenteredIconLabelDescriptionList"/>
    <dgm:cxn modelId="{E84C3CF3-3B9E-4CCD-809B-E402FD0B9775}" type="presParOf" srcId="{A36FF52E-1AF5-4499-94D0-EEAC5CB383CA}" destId="{1E25E05F-1E27-40D0-B9C4-391C204BC306}" srcOrd="2" destOrd="0" presId="urn:microsoft.com/office/officeart/2018/5/layout/CenteredIconLabelDescriptionList"/>
    <dgm:cxn modelId="{ECBF8D7A-9019-479B-B4F9-D3ED132E2730}" type="presParOf" srcId="{1E25E05F-1E27-40D0-B9C4-391C204BC306}" destId="{40186866-01A9-4EC4-9412-6FAD4537D0B5}" srcOrd="0" destOrd="0" presId="urn:microsoft.com/office/officeart/2018/5/layout/CenteredIconLabelDescriptionList"/>
    <dgm:cxn modelId="{7385A7F5-D77C-4A50-AC0A-8923FCFD3632}" type="presParOf" srcId="{1E25E05F-1E27-40D0-B9C4-391C204BC306}" destId="{CDC841D8-DF9E-4BCB-8993-0AB1B88C5521}" srcOrd="1" destOrd="0" presId="urn:microsoft.com/office/officeart/2018/5/layout/CenteredIconLabelDescriptionList"/>
    <dgm:cxn modelId="{C51A18D7-0C59-41B7-8FE7-7F172EF43ECA}" type="presParOf" srcId="{1E25E05F-1E27-40D0-B9C4-391C204BC306}" destId="{403A7BA3-E739-4585-A022-5AD0058551A5}" srcOrd="2" destOrd="0" presId="urn:microsoft.com/office/officeart/2018/5/layout/CenteredIconLabelDescriptionList"/>
    <dgm:cxn modelId="{E2ED80D4-DAC0-4F4E-95EA-77FB8BDC890D}" type="presParOf" srcId="{1E25E05F-1E27-40D0-B9C4-391C204BC306}" destId="{151F0506-2D47-465C-B6BA-7F4C20B8D043}" srcOrd="3" destOrd="0" presId="urn:microsoft.com/office/officeart/2018/5/layout/CenteredIconLabelDescriptionList"/>
    <dgm:cxn modelId="{832885E0-63B8-4DAC-A60D-E115CDA908DA}" type="presParOf" srcId="{1E25E05F-1E27-40D0-B9C4-391C204BC306}" destId="{84105D38-168B-4EAC-95C3-C563665F908C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799474" y="803568"/>
          <a:ext cx="1098000" cy="1098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1033474" y="1037569"/>
          <a:ext cx="630000" cy="63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448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Introducción</a:t>
          </a:r>
          <a:endParaRPr lang="en-US" sz="1900" kern="1200" dirty="0"/>
        </a:p>
      </dsp:txBody>
      <dsp:txXfrm>
        <a:off x="448474" y="2243569"/>
        <a:ext cx="1800000" cy="720000"/>
      </dsp:txXfrm>
    </dsp:sp>
    <dsp:sp modelId="{2AEC9E5B-DB2F-4116-B1C5-87F4576CB5D8}">
      <dsp:nvSpPr>
        <dsp:cNvPr id="0" name=""/>
        <dsp:cNvSpPr/>
      </dsp:nvSpPr>
      <dsp:spPr>
        <a:xfrm>
          <a:off x="2914474" y="803568"/>
          <a:ext cx="1098000" cy="1098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148474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563474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clásica</a:t>
          </a:r>
          <a:endParaRPr lang="en-US" sz="1900" kern="1200" dirty="0"/>
        </a:p>
      </dsp:txBody>
      <dsp:txXfrm>
        <a:off x="2563474" y="2243569"/>
        <a:ext cx="1800000" cy="720000"/>
      </dsp:txXfrm>
    </dsp:sp>
    <dsp:sp modelId="{A838D911-4E61-417D-9C22-EED7DCB0F7D5}">
      <dsp:nvSpPr>
        <dsp:cNvPr id="0" name=""/>
        <dsp:cNvSpPr/>
      </dsp:nvSpPr>
      <dsp:spPr>
        <a:xfrm>
          <a:off x="5029475" y="803568"/>
          <a:ext cx="1098000" cy="109800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526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467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simétrica</a:t>
          </a:r>
          <a:endParaRPr lang="en-US" sz="1900" kern="1200" dirty="0"/>
        </a:p>
      </dsp:txBody>
      <dsp:txXfrm>
        <a:off x="4678475" y="2243569"/>
        <a:ext cx="1800000" cy="720000"/>
      </dsp:txXfrm>
    </dsp:sp>
    <dsp:sp modelId="{FCEA6993-243C-44F4-A3F9-4501C0A02260}">
      <dsp:nvSpPr>
        <dsp:cNvPr id="0" name=""/>
        <dsp:cNvSpPr/>
      </dsp:nvSpPr>
      <dsp:spPr>
        <a:xfrm>
          <a:off x="7144475" y="803568"/>
          <a:ext cx="1098000" cy="109800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7378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6793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Criptografía asimétrica</a:t>
          </a:r>
          <a:endParaRPr lang="en-US" sz="1900" kern="1200" dirty="0"/>
        </a:p>
      </dsp:txBody>
      <dsp:txXfrm>
        <a:off x="6793475" y="2243569"/>
        <a:ext cx="1800000" cy="720000"/>
      </dsp:txXfrm>
    </dsp:sp>
    <dsp:sp modelId="{2CF8E5C3-B811-49DC-9062-10B1AEE31BFF}">
      <dsp:nvSpPr>
        <dsp:cNvPr id="0" name=""/>
        <dsp:cNvSpPr/>
      </dsp:nvSpPr>
      <dsp:spPr>
        <a:xfrm>
          <a:off x="9259475" y="803568"/>
          <a:ext cx="1098000" cy="1098000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1E1D24A-CC69-42D1-A36C-2D9439521B2F}">
      <dsp:nvSpPr>
        <dsp:cNvPr id="0" name=""/>
        <dsp:cNvSpPr/>
      </dsp:nvSpPr>
      <dsp:spPr>
        <a:xfrm>
          <a:off x="9493475" y="1037568"/>
          <a:ext cx="630000" cy="630000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alpha val="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124192-6DA7-4C3F-A66E-D6375B54AB96}">
      <dsp:nvSpPr>
        <dsp:cNvPr id="0" name=""/>
        <dsp:cNvSpPr/>
      </dsp:nvSpPr>
      <dsp:spPr>
        <a:xfrm>
          <a:off x="8908475" y="224356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1900" kern="1200" dirty="0"/>
            <a:t>Funciones hash</a:t>
          </a:r>
        </a:p>
      </dsp:txBody>
      <dsp:txXfrm>
        <a:off x="8908475" y="2243569"/>
        <a:ext cx="180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08" y="242573"/>
          <a:ext cx="591834" cy="59183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852" y="459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Criptografía: se encargada de diseñar métodos de proteger información.</a:t>
          </a:r>
          <a:endParaRPr lang="en-US" sz="2500" kern="1200" dirty="0"/>
        </a:p>
      </dsp:txBody>
      <dsp:txXfrm>
        <a:off x="1242852" y="459"/>
        <a:ext cx="9914097" cy="1076062"/>
      </dsp:txXfrm>
    </dsp:sp>
    <dsp:sp modelId="{6A6CC891-D06F-4590-A4A6-99FEAA95F274}">
      <dsp:nvSpPr>
        <dsp:cNvPr id="0" name=""/>
        <dsp:cNvSpPr/>
      </dsp:nvSpPr>
      <dsp:spPr>
        <a:xfrm>
          <a:off x="0" y="1345537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08" y="1587651"/>
          <a:ext cx="591834" cy="59183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852" y="1345537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Criptoanálisis: se encarga de romper los métodos criptográficos.</a:t>
          </a:r>
          <a:endParaRPr lang="en-US" sz="2500" kern="1200" dirty="0"/>
        </a:p>
      </dsp:txBody>
      <dsp:txXfrm>
        <a:off x="1242852" y="1345537"/>
        <a:ext cx="9914097" cy="1076062"/>
      </dsp:txXfrm>
    </dsp:sp>
    <dsp:sp modelId="{E4C30A4B-8722-4AAC-91B5-217193B4B05F}">
      <dsp:nvSpPr>
        <dsp:cNvPr id="0" name=""/>
        <dsp:cNvSpPr/>
      </dsp:nvSpPr>
      <dsp:spPr>
        <a:xfrm>
          <a:off x="0" y="2690615"/>
          <a:ext cx="11156950" cy="107606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08" y="2932729"/>
          <a:ext cx="591834" cy="59183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852" y="2690615"/>
          <a:ext cx="9914097" cy="1076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3" tIns="113883" rIns="113883" bIns="113883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/>
            <a:t>Criptología: Es la combinación de la criptografía y el criptoanálisis.</a:t>
          </a:r>
          <a:endParaRPr lang="en-US" sz="2500" kern="1200" dirty="0"/>
        </a:p>
      </dsp:txBody>
      <dsp:txXfrm>
        <a:off x="1242852" y="2690615"/>
        <a:ext cx="9914097" cy="10760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41307F-4609-4DA1-92E6-F1CD60E16F64}">
      <dsp:nvSpPr>
        <dsp:cNvPr id="0" name=""/>
        <dsp:cNvSpPr/>
      </dsp:nvSpPr>
      <dsp:spPr>
        <a:xfrm>
          <a:off x="2283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034362-D833-4994-9A93-0DFE286E66E4}">
      <dsp:nvSpPr>
        <dsp:cNvPr id="0" name=""/>
        <dsp:cNvSpPr/>
      </dsp:nvSpPr>
      <dsp:spPr>
        <a:xfrm>
          <a:off x="879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Cifrar</a:t>
          </a:r>
          <a:endParaRPr lang="en-US" sz="3600" kern="1200" dirty="0"/>
        </a:p>
      </dsp:txBody>
      <dsp:txXfrm>
        <a:off x="879840" y="1880202"/>
        <a:ext cx="4320000" cy="648000"/>
      </dsp:txXfrm>
    </dsp:sp>
    <dsp:sp modelId="{8F90CF00-E32C-47AD-82BA-2A1E06B29D64}">
      <dsp:nvSpPr>
        <dsp:cNvPr id="0" name=""/>
        <dsp:cNvSpPr/>
      </dsp:nvSpPr>
      <dsp:spPr>
        <a:xfrm>
          <a:off x="879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RSA sirve para cifrar y descifrar información.</a:t>
          </a:r>
          <a:endParaRPr lang="en-US" sz="1700" kern="1200" dirty="0"/>
        </a:p>
      </dsp:txBody>
      <dsp:txXfrm>
        <a:off x="879840" y="2594524"/>
        <a:ext cx="4320000" cy="947193"/>
      </dsp:txXfrm>
    </dsp:sp>
    <dsp:sp modelId="{40186866-01A9-4EC4-9412-6FAD4537D0B5}">
      <dsp:nvSpPr>
        <dsp:cNvPr id="0" name=""/>
        <dsp:cNvSpPr/>
      </dsp:nvSpPr>
      <dsp:spPr>
        <a:xfrm>
          <a:off x="7359840" y="225610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3A7BA3-E739-4585-A022-5AD0058551A5}">
      <dsp:nvSpPr>
        <dsp:cNvPr id="0" name=""/>
        <dsp:cNvSpPr/>
      </dsp:nvSpPr>
      <dsp:spPr>
        <a:xfrm>
          <a:off x="5955840" y="1880202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ES" sz="3600" kern="1200" dirty="0"/>
            <a:t>Firmar</a:t>
          </a:r>
          <a:endParaRPr lang="en-US" sz="3600" kern="1200" dirty="0"/>
        </a:p>
      </dsp:txBody>
      <dsp:txXfrm>
        <a:off x="5955840" y="1880202"/>
        <a:ext cx="4320000" cy="648000"/>
      </dsp:txXfrm>
    </dsp:sp>
    <dsp:sp modelId="{84105D38-168B-4EAC-95C3-C563665F908C}">
      <dsp:nvSpPr>
        <dsp:cNvPr id="0" name=""/>
        <dsp:cNvSpPr/>
      </dsp:nvSpPr>
      <dsp:spPr>
        <a:xfrm>
          <a:off x="5955840" y="2594524"/>
          <a:ext cx="4320000" cy="94719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700" kern="1200" dirty="0"/>
            <a:t>También si aplicamos la función con clave privada lo que hacemos es firmar la información para decir que nosotros hemos sido quien la ha emitido. </a:t>
          </a:r>
          <a:endParaRPr lang="en-US" sz="1700" kern="1200" dirty="0"/>
        </a:p>
      </dsp:txBody>
      <dsp:txXfrm>
        <a:off x="5955840" y="2594524"/>
        <a:ext cx="4320000" cy="94719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307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658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446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4277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063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615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16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272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90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6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4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768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es.wikipedia.org/wiki/Cifrado_por_sustituci%C3%B3n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tzj1RoqRnv0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tzj1RoqRnv0" TargetMode="External"/><Relationship Id="rId2" Type="http://schemas.openxmlformats.org/officeDocument/2006/relationships/hyperlink" Target="https://es.wikipedia.org/wiki/Frecuencia_de_aparici%C3%B3n_de_letra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ongee.com/tutoriales/cuales-son-las-dos-funciones-de-hash-comun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3741086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clásica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  <a:p>
            <a:pPr marL="0" indent="0">
              <a:buNone/>
            </a:pPr>
            <a:r>
              <a:rPr lang="es-ES" dirty="0"/>
              <a:t>La seguridad de los datos consiste en 5 claves.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Vista desde la criptografía moderna</a:t>
            </a:r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División de disciplinas</a:t>
            </a:r>
            <a:endParaRPr lang="es-ES" dirty="0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405998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pPr marL="0" indent="0">
              <a:buNone/>
            </a:pPr>
            <a:r>
              <a:rPr lang="es-ES" dirty="0"/>
              <a:t>Hay una familia grande de diferentes tipos de cifrados por sustitución. </a:t>
            </a:r>
            <a:r>
              <a:rPr lang="es-ES" dirty="0">
                <a:hlinkClick r:id="rId2"/>
              </a:rPr>
              <a:t>https://es.wikipedia.org/wiki/Cifrado_por_sustituci%C3%B3n</a:t>
            </a:r>
            <a:r>
              <a:rPr lang="es-ES" dirty="0"/>
              <a:t> 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F2318-570B-FA9E-7A63-3013679D9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8" y="841283"/>
            <a:ext cx="3465681" cy="29164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tx2"/>
                </a:solidFill>
              </a:rPr>
              <a:t>Cifrados por sustitución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86B6FA99-1BC0-8DDE-E17B-2C1741D753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996" y="1085390"/>
            <a:ext cx="7311136" cy="4586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697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DAB66D-4884-6B3C-E743-D9B133810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486572" cy="1463040"/>
          </a:xfrm>
        </p:spPr>
        <p:txBody>
          <a:bodyPr>
            <a:normAutofit/>
          </a:bodyPr>
          <a:lstStyle/>
          <a:p>
            <a:r>
              <a:rPr lang="es-ES" sz="4000" dirty="0"/>
              <a:t>Problemas de los cifrados de sustitución simple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6702C-DD1A-265D-5A89-D9B950AE3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2441448"/>
            <a:ext cx="11155680" cy="3767328"/>
          </a:xfrm>
        </p:spPr>
        <p:txBody>
          <a:bodyPr/>
          <a:lstStyle/>
          <a:p>
            <a:r>
              <a:rPr lang="es-ES" dirty="0"/>
              <a:t>Son débiles ante el análisis de la frecuencia de uso de caracteres.</a:t>
            </a:r>
          </a:p>
          <a:p>
            <a:r>
              <a:rPr lang="es-ES" dirty="0"/>
              <a:t>Si se conoce el algoritmo queda al descubierto el mensaje.</a:t>
            </a:r>
          </a:p>
          <a:p>
            <a:r>
              <a:rPr lang="es-ES" dirty="0"/>
              <a:t>Son muy fáciles de romper.</a:t>
            </a:r>
          </a:p>
        </p:txBody>
      </p:sp>
    </p:spTree>
    <p:extLst>
      <p:ext uri="{BB962C8B-B14F-4D97-AF65-F5344CB8AC3E}">
        <p14:creationId xmlns:p14="http://schemas.microsoft.com/office/powerpoint/2010/main" val="1465876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35F2AB-04F3-7608-A351-D1C04EEA9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" y="747296"/>
            <a:ext cx="11155680" cy="1463040"/>
          </a:xfrm>
        </p:spPr>
        <p:txBody>
          <a:bodyPr/>
          <a:lstStyle/>
          <a:p>
            <a:r>
              <a:rPr lang="es-ES" dirty="0"/>
              <a:t>Frecuencia de aparición de las letras en español</a:t>
            </a:r>
          </a:p>
        </p:txBody>
      </p:sp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1311235E-8674-DF20-E7E8-E4A45A44B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191" y="2037302"/>
            <a:ext cx="6293618" cy="4720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065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04" y="2304288"/>
            <a:ext cx="5129784" cy="4050792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Es una versión mejorada del cifrado por sustitución simple.</a:t>
            </a:r>
          </a:p>
          <a:p>
            <a:r>
              <a:rPr lang="es-ES" dirty="0"/>
              <a:t>Se remplaza cada carácter del texto original con varios símbolos en lugar de uno solo.</a:t>
            </a:r>
          </a:p>
          <a:p>
            <a:r>
              <a:rPr lang="es-ES" dirty="0"/>
              <a:t>Se basa en la idea de asignar a un símbolo del alfabeto fuente varios del alfabeto cifrado, solventando el problema de la frecuencia de letras.</a:t>
            </a:r>
          </a:p>
          <a:p>
            <a:r>
              <a:rPr lang="es-ES" dirty="0"/>
              <a:t>Suaviza la frecuencia de aparición de los caracteres para dificultar predecir los caracteres por su ratio de aparición. Todos los caracteres del alfabeto resultado tienen el mismo ratio de aparición.</a:t>
            </a: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7495EEE6-6B9C-60EB-ADDD-E7B89474BB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68" y="2686078"/>
            <a:ext cx="5639091" cy="329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9D6D40-5024-92E4-1B99-84DF035BB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9" y="971397"/>
            <a:ext cx="9051416" cy="86174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Criptografía</a:t>
            </a:r>
            <a:r>
              <a:rPr lang="en-US" dirty="0"/>
              <a:t> moderna.</a:t>
            </a:r>
          </a:p>
        </p:txBody>
      </p:sp>
      <p:pic>
        <p:nvPicPr>
          <p:cNvPr id="6" name="Graphic 5" descr="Clave">
            <a:extLst>
              <a:ext uri="{FF2B5EF4-FFF2-40B4-BE49-F238E27FC236}">
                <a16:creationId xmlns:a16="http://schemas.microsoft.com/office/drawing/2014/main" id="{A0BA6C1C-E8C8-A05A-85F7-40852F81F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5234" y="508090"/>
            <a:ext cx="5626534" cy="5626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5103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A83013-ACFF-F2EE-6609-809EA8193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UTF-8</a:t>
            </a:r>
          </a:p>
        </p:txBody>
      </p:sp>
      <p:pic>
        <p:nvPicPr>
          <p:cNvPr id="5" name="Imagen 4" descr="Tabla&#10;&#10;El contenido generado por IA puede ser incorrecto.">
            <a:extLst>
              <a:ext uri="{FF2B5EF4-FFF2-40B4-BE49-F238E27FC236}">
                <a16:creationId xmlns:a16="http://schemas.microsoft.com/office/drawing/2014/main" id="{C8419586-0D88-DB57-1929-11F7B0F99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86" y="2233612"/>
            <a:ext cx="10181463" cy="4171412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E438167-CE26-A5F3-4127-8E6A8D44544C}"/>
              </a:ext>
            </a:extLst>
          </p:cNvPr>
          <p:cNvSpPr txBox="1"/>
          <p:nvPr/>
        </p:nvSpPr>
        <p:spPr>
          <a:xfrm>
            <a:off x="3986251" y="982147"/>
            <a:ext cx="789142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Es el sistema de representación numérica de los caracteres más empleada.</a:t>
            </a:r>
          </a:p>
          <a:p>
            <a:r>
              <a:rPr lang="es-ES" dirty="0"/>
              <a:t>Hace que podamos representar letras de manera numérica. Y es un sistema de codificación altamente extendido.</a:t>
            </a:r>
          </a:p>
          <a:p>
            <a:r>
              <a:rPr lang="es-ES" dirty="0"/>
              <a:t>Hay otros tipos como el UTF-16</a:t>
            </a:r>
          </a:p>
        </p:txBody>
      </p:sp>
    </p:spTree>
    <p:extLst>
      <p:ext uri="{BB962C8B-B14F-4D97-AF65-F5344CB8AC3E}">
        <p14:creationId xmlns:p14="http://schemas.microsoft.com/office/powerpoint/2010/main" val="14753868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CB18FA-F17B-A709-71AD-D919227A6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Criptografía 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1D7FC0D3-F7C2-A49D-5940-D5D40BD68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228" y="2578100"/>
            <a:ext cx="10717894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C4A8A703-8A49-DDEC-54FE-DA1129697FD4}"/>
              </a:ext>
            </a:extLst>
          </p:cNvPr>
          <p:cNvSpPr txBox="1"/>
          <p:nvPr/>
        </p:nvSpPr>
        <p:spPr>
          <a:xfrm>
            <a:off x="9906001" y="978408"/>
            <a:ext cx="20955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Tipos diferentes:</a:t>
            </a:r>
          </a:p>
          <a:p>
            <a:r>
              <a:rPr lang="es-ES" dirty="0"/>
              <a:t>DES</a:t>
            </a:r>
            <a:br>
              <a:rPr lang="es-ES" dirty="0"/>
            </a:br>
            <a:r>
              <a:rPr lang="es-ES" dirty="0"/>
              <a:t>AES</a:t>
            </a:r>
            <a:br>
              <a:rPr lang="es-ES" dirty="0"/>
            </a:br>
            <a:r>
              <a:rPr lang="es-ES" dirty="0"/>
              <a:t>RC2</a:t>
            </a:r>
          </a:p>
        </p:txBody>
      </p:sp>
    </p:spTree>
    <p:extLst>
      <p:ext uri="{BB962C8B-B14F-4D97-AF65-F5344CB8AC3E}">
        <p14:creationId xmlns:p14="http://schemas.microsoft.com/office/powerpoint/2010/main" val="3957486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2CD4E5-AE12-E576-BA83-E77748CCF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281928" cy="1463040"/>
          </a:xfrm>
        </p:spPr>
        <p:txBody>
          <a:bodyPr>
            <a:normAutofit/>
          </a:bodyPr>
          <a:lstStyle/>
          <a:p>
            <a:r>
              <a:rPr lang="es-ES" dirty="0"/>
              <a:t>Dos modos diferentes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34881D5-573E-C803-D62E-BF2379C0C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6281928" cy="3767328"/>
          </a:xfrm>
        </p:spPr>
        <p:txBody>
          <a:bodyPr>
            <a:normAutofit/>
          </a:bodyPr>
          <a:lstStyle/>
          <a:p>
            <a:r>
              <a:rPr lang="es-ES" dirty="0"/>
              <a:t>Cifrado en bloque divide el mensaje (texto plano) en bloques de tamaño fijo (por ejemplo, 64 o 128 bits) y cifra cada bloque por separado utilizando una clave secreta.</a:t>
            </a:r>
          </a:p>
          <a:p>
            <a:endParaRPr lang="es-ES" dirty="0"/>
          </a:p>
          <a:p>
            <a:r>
              <a:rPr lang="es-ES" dirty="0"/>
              <a:t>Cifrado en flujo procesa el texto bit a bit o byte a byte, generando un flujo continuo de claves (</a:t>
            </a:r>
            <a:r>
              <a:rPr lang="es-ES" dirty="0" err="1"/>
              <a:t>keystream</a:t>
            </a:r>
            <a:r>
              <a:rPr lang="es-ES" dirty="0"/>
              <a:t>) que se combina con el mensaje original, normalmente mediante una operación XOR.</a:t>
            </a:r>
          </a:p>
        </p:txBody>
      </p:sp>
      <p:pic>
        <p:nvPicPr>
          <p:cNvPr id="5" name="Imagen 4" descr="Diagrama&#10;&#10;El contenido generado por IA puede ser incorrecto.">
            <a:extLst>
              <a:ext uri="{FF2B5EF4-FFF2-40B4-BE49-F238E27FC236}">
                <a16:creationId xmlns:a16="http://schemas.microsoft.com/office/drawing/2014/main" id="{6D71AEB4-51D5-1809-94D1-17E43940F0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6518" y="793840"/>
            <a:ext cx="4013060" cy="5843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224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F4E8F-1FC7-D788-0B9E-536E34015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Ideas claves XOR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B0508B4-7080-A959-3144-A131C2A7D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420086"/>
              </p:ext>
            </p:extLst>
          </p:nvPr>
        </p:nvGraphicFramePr>
        <p:xfrm>
          <a:off x="521207" y="2847231"/>
          <a:ext cx="453968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20">
                  <a:extLst>
                    <a:ext uri="{9D8B030D-6E8A-4147-A177-3AD203B41FA5}">
                      <a16:colId xmlns:a16="http://schemas.microsoft.com/office/drawing/2014/main" val="1643707268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830764929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912769812"/>
                    </a:ext>
                  </a:extLst>
                </a:gridCol>
                <a:gridCol w="1134920">
                  <a:extLst>
                    <a:ext uri="{9D8B030D-6E8A-4147-A177-3AD203B41FA5}">
                      <a16:colId xmlns:a16="http://schemas.microsoft.com/office/drawing/2014/main" val="20842243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XOR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A XOR B XOR 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35122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7895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9751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7939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1546476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8DCDE803-1AEB-7D80-B663-AE9CCEDAC582}"/>
              </a:ext>
            </a:extLst>
          </p:cNvPr>
          <p:cNvSpPr txBox="1"/>
          <p:nvPr/>
        </p:nvSpPr>
        <p:spPr>
          <a:xfrm>
            <a:off x="6096000" y="2939346"/>
            <a:ext cx="41736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Ejemplo</a:t>
            </a:r>
          </a:p>
          <a:p>
            <a:r>
              <a:rPr lang="es-ES" dirty="0"/>
              <a:t>A: 0110000101</a:t>
            </a:r>
          </a:p>
          <a:p>
            <a:r>
              <a:rPr lang="es-ES" dirty="0"/>
              <a:t>B: 0100110101</a:t>
            </a:r>
          </a:p>
          <a:p>
            <a:r>
              <a:rPr lang="es-ES" dirty="0"/>
              <a:t>C = A XOR B</a:t>
            </a:r>
          </a:p>
          <a:p>
            <a:r>
              <a:rPr lang="es-ES" dirty="0"/>
              <a:t>C: 0010110000</a:t>
            </a:r>
          </a:p>
          <a:p>
            <a:r>
              <a:rPr lang="es-ES" dirty="0"/>
              <a:t>C = C XOR B</a:t>
            </a:r>
          </a:p>
          <a:p>
            <a:r>
              <a:rPr lang="es-ES" dirty="0"/>
              <a:t>C: 0110000101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9563450-1E0D-2C39-3477-51022555AE3A}"/>
              </a:ext>
            </a:extLst>
          </p:cNvPr>
          <p:cNvSpPr txBox="1"/>
          <p:nvPr/>
        </p:nvSpPr>
        <p:spPr>
          <a:xfrm>
            <a:off x="6096000" y="1096402"/>
            <a:ext cx="5574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Operación XOR es usada para cifrar mensajes ya que el opuesto de </a:t>
            </a:r>
            <a:r>
              <a:rPr lang="es-ES" dirty="0" err="1"/>
              <a:t>xor</a:t>
            </a:r>
            <a:r>
              <a:rPr lang="es-ES" dirty="0"/>
              <a:t> es el mismo.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4F25165-1650-9900-7C54-0D6472A5AA19}"/>
              </a:ext>
            </a:extLst>
          </p:cNvPr>
          <p:cNvSpPr txBox="1"/>
          <p:nvPr/>
        </p:nvSpPr>
        <p:spPr>
          <a:xfrm>
            <a:off x="823865" y="5758004"/>
            <a:ext cx="103863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Por propiedad matemática de </a:t>
            </a:r>
            <a:r>
              <a:rPr lang="es-ES" dirty="0" err="1"/>
              <a:t>auto-inversión</a:t>
            </a:r>
            <a:r>
              <a:rPr lang="es-ES" dirty="0"/>
              <a:t> la operación matemática opuesta a XOR es la propia XOR</a:t>
            </a:r>
          </a:p>
          <a:p>
            <a:r>
              <a:rPr lang="es-ES" dirty="0"/>
              <a:t>A XOR B XOR B = A</a:t>
            </a:r>
          </a:p>
        </p:txBody>
      </p:sp>
    </p:spTree>
    <p:extLst>
      <p:ext uri="{BB962C8B-B14F-4D97-AF65-F5344CB8AC3E}">
        <p14:creationId xmlns:p14="http://schemas.microsoft.com/office/powerpoint/2010/main" val="20352011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DF6771-FB6C-56D4-4CED-AABD7FA99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AES</a:t>
            </a:r>
          </a:p>
        </p:txBody>
      </p:sp>
      <p:pic>
        <p:nvPicPr>
          <p:cNvPr id="5" name="Marcador de contenido 4" descr="Imagen que contiene juego, reloj, montado, colgando&#10;&#10;El contenido generado por IA puede ser incorrecto.">
            <a:extLst>
              <a:ext uri="{FF2B5EF4-FFF2-40B4-BE49-F238E27FC236}">
                <a16:creationId xmlns:a16="http://schemas.microsoft.com/office/drawing/2014/main" id="{104FEB6D-C749-0CD1-10CE-ECC936371C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2105" y="978408"/>
            <a:ext cx="7267790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A2D339D-66AD-5214-7921-4904CB5D9AF7}"/>
              </a:ext>
            </a:extLst>
          </p:cNvPr>
          <p:cNvSpPr txBox="1"/>
          <p:nvPr/>
        </p:nvSpPr>
        <p:spPr>
          <a:xfrm>
            <a:off x="857250" y="5467350"/>
            <a:ext cx="9562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Es un tipo de cifrado en bloque muy extendido, hay varios tipos. Uno muy usado es el AES-128.</a:t>
            </a:r>
          </a:p>
        </p:txBody>
      </p:sp>
    </p:spTree>
    <p:extLst>
      <p:ext uri="{BB962C8B-B14F-4D97-AF65-F5344CB8AC3E}">
        <p14:creationId xmlns:p14="http://schemas.microsoft.com/office/powerpoint/2010/main" val="16979123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26F6C4EB-AB86-2908-C663-F3A3B9FD5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12" r="-2" b="1653"/>
          <a:stretch>
            <a:fillRect/>
          </a:stretch>
        </p:blipFill>
        <p:spPr>
          <a:xfrm>
            <a:off x="1284871" y="725488"/>
            <a:ext cx="9622258" cy="60642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1172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48AC9-F291-3E5C-724F-82A1A292F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Procesos de AES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DF9BEC5-5986-AC28-BEFA-F0D0A6D8C7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208" y="1951672"/>
            <a:ext cx="114675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SubBytes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sustituyen los bytes del bloque de datos utilizando una tabla de sustitución (S-box) para aportar no linealidad al algoritmo.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ShiftRows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desplazan los bytes de cada fila del bloque una cantidad variable para mezclar las columnas.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MixColumns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Cada columna se mezcla de forma lineal, combinando los cuatro bytes de la columna.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AddRoundKey</a:t>
            </a: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Se combina la clave de ronda actual con el estado del bloque mediante una operación XO 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4C1379D-ACBA-89A8-086F-6FE28A83DF2A}"/>
              </a:ext>
            </a:extLst>
          </p:cNvPr>
          <p:cNvSpPr txBox="1"/>
          <p:nvPr/>
        </p:nvSpPr>
        <p:spPr>
          <a:xfrm>
            <a:off x="1668780" y="40329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>
                <a:hlinkClick r:id="rId2"/>
              </a:rPr>
              <a:t>https://youtu.be/tzj1RoqRnv0</a:t>
            </a:r>
            <a:r>
              <a:rPr lang="es-E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470562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8BDC72-16CF-5964-BBB2-99E4F28A1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397649" cy="33037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4. Criptografía asimétrica</a:t>
            </a:r>
          </a:p>
        </p:txBody>
      </p:sp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CF561025-F0FA-E4BE-6E2F-96A29B57B0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154" y="965741"/>
            <a:ext cx="7551931" cy="4719956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A1EA4F1-AC02-6041-9E24-CEB8D81C2F73}"/>
              </a:ext>
            </a:extLst>
          </p:cNvPr>
          <p:cNvSpPr txBox="1"/>
          <p:nvPr/>
        </p:nvSpPr>
        <p:spPr>
          <a:xfrm>
            <a:off x="742384" y="4037846"/>
            <a:ext cx="189186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DIFFIE HELLMAN</a:t>
            </a:r>
            <a:br>
              <a:rPr lang="es-ES" dirty="0"/>
            </a:br>
            <a:r>
              <a:rPr lang="es-ES" dirty="0"/>
              <a:t>RSA</a:t>
            </a:r>
            <a:br>
              <a:rPr lang="es-ES" dirty="0"/>
            </a:br>
            <a:r>
              <a:rPr lang="es-ES" dirty="0"/>
              <a:t>ELGAMAL</a:t>
            </a:r>
          </a:p>
          <a:p>
            <a:r>
              <a:rPr lang="es-ES" dirty="0"/>
              <a:t>CURVA ELÍPTICA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96385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916425-0CA4-FD8E-9CDC-87FF8D49B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 para RSA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EAAC0F-922E-FA03-5AC0-89151D285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Llave publica</a:t>
            </a:r>
          </a:p>
          <a:p>
            <a:r>
              <a:rPr lang="es-ES" dirty="0"/>
              <a:t>Llave privada</a:t>
            </a:r>
          </a:p>
          <a:p>
            <a:r>
              <a:rPr lang="es-ES" dirty="0"/>
              <a:t>Función de no retorno</a:t>
            </a:r>
          </a:p>
        </p:txBody>
      </p:sp>
    </p:spTree>
    <p:extLst>
      <p:ext uri="{BB962C8B-B14F-4D97-AF65-F5344CB8AC3E}">
        <p14:creationId xmlns:p14="http://schemas.microsoft.com/office/powerpoint/2010/main" val="4803080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75FAFC-FBD4-04FA-FE5D-F1CE7AB4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RSA funcionamiento del cifrado asimétrico</a:t>
            </a:r>
          </a:p>
        </p:txBody>
      </p:sp>
      <p:pic>
        <p:nvPicPr>
          <p:cNvPr id="5" name="Marcador de contenido 4" descr="Escala de tiempo&#10;&#10;El contenido generado por IA puede ser incorrecto.">
            <a:extLst>
              <a:ext uri="{FF2B5EF4-FFF2-40B4-BE49-F238E27FC236}">
                <a16:creationId xmlns:a16="http://schemas.microsoft.com/office/drawing/2014/main" id="{2ACCD469-A469-0C13-63E4-6E7C441CD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849" y="2578100"/>
            <a:ext cx="8028651" cy="3767138"/>
          </a:xfrm>
        </p:spPr>
      </p:pic>
    </p:spTree>
    <p:extLst>
      <p:ext uri="{BB962C8B-B14F-4D97-AF65-F5344CB8AC3E}">
        <p14:creationId xmlns:p14="http://schemas.microsoft.com/office/powerpoint/2010/main" val="16799951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BEAC46-11F2-726D-0E7C-35D93C06C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 anchor="t">
            <a:normAutofit/>
          </a:bodyPr>
          <a:lstStyle/>
          <a:p>
            <a:r>
              <a:rPr lang="es-ES" dirty="0"/>
              <a:t>¿Qué se puede hacer con RSA?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393EF80E-FE8A-389C-62B3-923F492230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59060159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082321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 descr="Diagrama&#10;&#10;El contenido generado por IA puede ser incorrecto.">
            <a:extLst>
              <a:ext uri="{FF2B5EF4-FFF2-40B4-BE49-F238E27FC236}">
                <a16:creationId xmlns:a16="http://schemas.microsoft.com/office/drawing/2014/main" id="{43A095D5-2F90-1F50-0191-DE6C1BC947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144" y="725488"/>
            <a:ext cx="6573712" cy="6064250"/>
          </a:xfrm>
          <a:noFill/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504D661-B6A1-A009-A4D2-7B03969C1F13}"/>
              </a:ext>
            </a:extLst>
          </p:cNvPr>
          <p:cNvSpPr txBox="1"/>
          <p:nvPr/>
        </p:nvSpPr>
        <p:spPr>
          <a:xfrm flipH="1">
            <a:off x="447653" y="68262"/>
            <a:ext cx="6128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Cálculos de RSA</a:t>
            </a:r>
          </a:p>
        </p:txBody>
      </p:sp>
    </p:spTree>
    <p:extLst>
      <p:ext uri="{BB962C8B-B14F-4D97-AF65-F5344CB8AC3E}">
        <p14:creationId xmlns:p14="http://schemas.microsoft.com/office/powerpoint/2010/main" val="26063635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640731-A73E-D655-3832-F602B353E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807957-D5A8-EF8C-D4A6-1C56918F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45042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818EA2-A9B8-6137-C8AD-0A9FAA5C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4.1 Criptografía hibrida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B70AA01-C20A-5260-48DE-382B6FB9A9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Consiste en mezclar tanto criptografía asimétrica como simétrica.</a:t>
            </a:r>
          </a:p>
          <a:p>
            <a:r>
              <a:rPr lang="es-ES" dirty="0"/>
              <a:t>Comúnmente cuando se establece la comunicación se utiliza la criptografía asimétrica para garantizar la confidencialidad, aunque el canal este comprometido. Se intercambian las claves simétricas de sesión y a partir de hay se empieza a usar criptografía simétrica.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2973813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CE37F-D143-4557-1D40-019CAD4AC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5. Funciones Hash</a:t>
            </a:r>
            <a:endParaRPr lang="es-ES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C5B614C-B32F-5167-B5A2-98CA79A574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0090" y="2578100"/>
            <a:ext cx="7998169" cy="3767138"/>
          </a:xfr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5B6D7FB2-2DD2-78BD-CCEA-20A2C5F3A6CC}"/>
              </a:ext>
            </a:extLst>
          </p:cNvPr>
          <p:cNvSpPr txBox="1"/>
          <p:nvPr/>
        </p:nvSpPr>
        <p:spPr>
          <a:xfrm>
            <a:off x="10849733" y="978408"/>
            <a:ext cx="8210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MD5</a:t>
            </a:r>
          </a:p>
          <a:p>
            <a:r>
              <a:rPr lang="es-ES" dirty="0"/>
              <a:t>SHA-1</a:t>
            </a:r>
          </a:p>
          <a:p>
            <a:r>
              <a:rPr lang="es-ES" dirty="0"/>
              <a:t>DSA</a:t>
            </a:r>
          </a:p>
        </p:txBody>
      </p:sp>
    </p:spTree>
    <p:extLst>
      <p:ext uri="{BB962C8B-B14F-4D97-AF65-F5344CB8AC3E}">
        <p14:creationId xmlns:p14="http://schemas.microsoft.com/office/powerpoint/2010/main" val="28551556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AE1AF7-49C7-F432-E1E4-7BA587AC4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Conceptos clave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54A13A-6D50-FBB5-0B6D-E0A213B94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Función hash no biyectiva (en la mayoría de las ocasiones).</a:t>
            </a:r>
          </a:p>
          <a:p>
            <a:r>
              <a:rPr lang="es-ES" dirty="0"/>
              <a:t>Identificación de información.</a:t>
            </a:r>
          </a:p>
          <a:p>
            <a:r>
              <a:rPr lang="es-ES" dirty="0"/>
              <a:t>Colisiones de HASH.</a:t>
            </a:r>
          </a:p>
          <a:p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64162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33AA1B-A1F8-30E1-13A5-E1F2BACA9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SHA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1A6F61-7CB9-5858-40B2-C63981F33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SHA es una familia de funciones de </a:t>
            </a:r>
            <a:r>
              <a:rPr lang="es-ES" dirty="0" err="1"/>
              <a:t>haseo</a:t>
            </a:r>
            <a:r>
              <a:rPr lang="es-ES" dirty="0"/>
              <a:t> de las cuales la más empleada es la SHA-256.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19364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25E6C8-2BE8-A94D-0535-840497F45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¿Por qué es buena práctica cifrar la base de datos?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56492AC-E569-1328-D2E5-DF8AA192DB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Si hay una filtración los datos sensibles no quedan expuestos como texto en claro, pero sigue siendo un problema grave.</a:t>
            </a:r>
          </a:p>
          <a:p>
            <a:r>
              <a:rPr lang="es-ES" dirty="0"/>
              <a:t>También se pueden poner </a:t>
            </a:r>
            <a:r>
              <a:rPr lang="es-ES" dirty="0" err="1"/>
              <a:t>honeypots</a:t>
            </a:r>
            <a:r>
              <a:rPr lang="es-ES" dirty="0"/>
              <a:t> con cuentas inexistentes para que si hay un inicio de sesión salte una alerta.</a:t>
            </a:r>
          </a:p>
        </p:txBody>
      </p:sp>
    </p:spTree>
    <p:extLst>
      <p:ext uri="{BB962C8B-B14F-4D97-AF65-F5344CB8AC3E}">
        <p14:creationId xmlns:p14="http://schemas.microsoft.com/office/powerpoint/2010/main" val="194012129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DAF768-BBCE-1406-F840-23F40FDFC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Problemas con el prompt </a:t>
            </a:r>
            <a:r>
              <a:rPr lang="es-ES" dirty="0" err="1"/>
              <a:t>inyection</a:t>
            </a:r>
            <a:r>
              <a:rPr lang="es-ES" dirty="0"/>
              <a:t>.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206F3AA-E36F-0493-4B69-4144E4B3F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452" y="2578100"/>
            <a:ext cx="8245445" cy="3767138"/>
          </a:xfrm>
        </p:spPr>
      </p:pic>
    </p:spTree>
    <p:extLst>
      <p:ext uri="{BB962C8B-B14F-4D97-AF65-F5344CB8AC3E}">
        <p14:creationId xmlns:p14="http://schemas.microsoft.com/office/powerpoint/2010/main" val="37877848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2F64A6-0F84-75CD-D234-6A309D9C4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Bibliografía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7D0E37-8282-B03C-A434-746100E01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Frecuencia de aparición de letras: </a:t>
            </a:r>
            <a:r>
              <a:rPr lang="es-ES" dirty="0">
                <a:hlinkClick r:id="rId2"/>
              </a:rPr>
              <a:t>https://es.wikipedia.org/wiki/Frecuencia_de_aparici%C3%B3n_de_letras#</a:t>
            </a:r>
            <a:r>
              <a:rPr lang="es-ES" dirty="0"/>
              <a:t> </a:t>
            </a:r>
          </a:p>
          <a:p>
            <a:r>
              <a:rPr lang="es-ES" dirty="0"/>
              <a:t>AES: </a:t>
            </a:r>
            <a:r>
              <a:rPr lang="es-ES" dirty="0">
                <a:hlinkClick r:id="rId3"/>
              </a:rPr>
              <a:t>https://youtu.be/tzj1RoqRnv0</a:t>
            </a:r>
            <a:r>
              <a:rPr lang="es-ES" dirty="0"/>
              <a:t> </a:t>
            </a:r>
          </a:p>
          <a:p>
            <a:r>
              <a:rPr lang="es-ES" dirty="0"/>
              <a:t>Funciones hash: </a:t>
            </a:r>
            <a:r>
              <a:rPr lang="es-ES" dirty="0">
                <a:hlinkClick r:id="rId4"/>
              </a:rPr>
              <a:t>https://www.dongee.com/tutoriales/cuales-son-las-dos-funciones-de-hash-comunes/</a:t>
            </a:r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61505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2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2" id="{C27C5EA2-A0D4-4A7D-9948-A5D4483D91AA}" vid="{C792E98A-C0F2-4F11-8D07-235B91C5079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1816</TotalTime>
  <Words>1224</Words>
  <Application>Microsoft Office PowerPoint</Application>
  <PresentationFormat>Panorámica</PresentationFormat>
  <Paragraphs>152</Paragraphs>
  <Slides>38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1" baseType="lpstr">
      <vt:lpstr>Arial</vt:lpstr>
      <vt:lpstr>Bierstadt</vt:lpstr>
      <vt:lpstr>Tema2</vt:lpstr>
      <vt:lpstr>Criptografía</vt:lpstr>
      <vt:lpstr>WHOAMI</vt:lpstr>
      <vt:lpstr>Índice de contenidos</vt:lpstr>
      <vt:lpstr>1. ¿Qué es la criptografía?</vt:lpstr>
      <vt:lpstr>Vista desde la criptografía clásica</vt:lpstr>
      <vt:lpstr>Una mirada más actual</vt:lpstr>
      <vt:lpstr>Seguridad de los datos, las 5 claves.</vt:lpstr>
      <vt:lpstr>Vista desde la criptografía moderna</vt:lpstr>
      <vt:lpstr>División de disciplinas</vt:lpstr>
      <vt:lpstr>2. Criptografía clásica</vt:lpstr>
      <vt:lpstr>Mayoritariamente están basadas en</vt:lpstr>
      <vt:lpstr>Cifrado por sustitución y transposición.</vt:lpstr>
      <vt:lpstr>Cifrados por sustitución</vt:lpstr>
      <vt:lpstr>Cifrado Cesar</vt:lpstr>
      <vt:lpstr>Problemas de los cifrados de sustitución simple</vt:lpstr>
      <vt:lpstr>Frecuencia de aparición de las letras en español</vt:lpstr>
      <vt:lpstr>cifrado por sustitución homofónico</vt:lpstr>
      <vt:lpstr>Criptografía moderna.</vt:lpstr>
      <vt:lpstr>UTF-8</vt:lpstr>
      <vt:lpstr>3. Criptografía simétrica</vt:lpstr>
      <vt:lpstr>Dos modos diferentes</vt:lpstr>
      <vt:lpstr>Ideas claves XOR</vt:lpstr>
      <vt:lpstr>AES</vt:lpstr>
      <vt:lpstr>Presentación de PowerPoint</vt:lpstr>
      <vt:lpstr>Procesos de AES</vt:lpstr>
      <vt:lpstr>4. Criptografía asimétrica</vt:lpstr>
      <vt:lpstr>Conceptos clave para RSA</vt:lpstr>
      <vt:lpstr>RSA funcionamiento del cifrado asimétrico</vt:lpstr>
      <vt:lpstr>¿Qué se puede hacer con RSA?</vt:lpstr>
      <vt:lpstr>Presentación de PowerPoint</vt:lpstr>
      <vt:lpstr>Presentación de PowerPoint</vt:lpstr>
      <vt:lpstr>4.1 Criptografía hibrida</vt:lpstr>
      <vt:lpstr>5. Funciones Hash</vt:lpstr>
      <vt:lpstr>Conceptos clave</vt:lpstr>
      <vt:lpstr>SHA</vt:lpstr>
      <vt:lpstr>¿Por qué es buena práctica cifrar la base de datos?</vt:lpstr>
      <vt:lpstr>Problemas con el prompt inyection.</vt:lpstr>
      <vt:lpstr>Bibliografía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39</cp:revision>
  <dcterms:created xsi:type="dcterms:W3CDTF">2025-10-08T12:18:35Z</dcterms:created>
  <dcterms:modified xsi:type="dcterms:W3CDTF">2025-10-20T07:30:16Z</dcterms:modified>
</cp:coreProperties>
</file>