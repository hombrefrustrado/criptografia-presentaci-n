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96" r:id="rId26"/>
    <p:sldId id="288" r:id="rId27"/>
    <p:sldId id="272" r:id="rId28"/>
    <p:sldId id="275" r:id="rId29"/>
    <p:sldId id="283" r:id="rId30"/>
    <p:sldId id="295" r:id="rId31"/>
    <p:sldId id="284" r:id="rId32"/>
    <p:sldId id="294" r:id="rId33"/>
    <p:sldId id="299" r:id="rId34"/>
    <p:sldId id="300" r:id="rId35"/>
    <p:sldId id="279" r:id="rId36"/>
    <p:sldId id="273" r:id="rId37"/>
    <p:sldId id="302" r:id="rId38"/>
    <p:sldId id="301" r:id="rId39"/>
    <p:sldId id="276" r:id="rId40"/>
    <p:sldId id="297" r:id="rId41"/>
    <p:sldId id="298" r:id="rId42"/>
    <p:sldId id="290" r:id="rId43"/>
    <p:sldId id="303" r:id="rId44"/>
    <p:sldId id="291" r:id="rId45"/>
    <p:sldId id="293" r:id="rId46"/>
    <p:sldId id="304" r:id="rId47"/>
    <p:sldId id="274" r:id="rId48"/>
    <p:sldId id="305" r:id="rId4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svg"/><Relationship Id="rId1" Type="http://schemas.openxmlformats.org/officeDocument/2006/relationships/image" Target="../media/image39.png"/><Relationship Id="rId4" Type="http://schemas.openxmlformats.org/officeDocument/2006/relationships/image" Target="../media/image4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7F7CDFF-812F-4FE4-B995-33EC749DD8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123F005F-4187-4D28-9890-021213BB3865}">
      <dgm:prSet phldrT="[Texto]" phldr="0"/>
      <dgm:spPr/>
      <dgm:t>
        <a:bodyPr/>
        <a:lstStyle/>
        <a:p>
          <a:r>
            <a:rPr lang="es-ES" dirty="0"/>
            <a:t>Garantiza la integridad de la información.</a:t>
          </a:r>
        </a:p>
      </dgm:t>
    </dgm:pt>
    <dgm:pt modelId="{D2D449AE-FBCA-4D43-AC5A-CE7FE8D96935}" type="parTrans" cxnId="{90ABCFAB-9615-4044-BB12-9D114F0DBCFD}">
      <dgm:prSet/>
      <dgm:spPr/>
      <dgm:t>
        <a:bodyPr/>
        <a:lstStyle/>
        <a:p>
          <a:endParaRPr lang="es-ES"/>
        </a:p>
      </dgm:t>
    </dgm:pt>
    <dgm:pt modelId="{D3D08D78-935D-4773-95F6-3581E3E2DF00}" type="sibTrans" cxnId="{90ABCFAB-9615-4044-BB12-9D114F0DBCFD}">
      <dgm:prSet/>
      <dgm:spPr/>
      <dgm:t>
        <a:bodyPr/>
        <a:lstStyle/>
        <a:p>
          <a:endParaRPr lang="es-ES"/>
        </a:p>
      </dgm:t>
    </dgm:pt>
    <dgm:pt modelId="{38E5C7DE-DF39-48AF-94BE-D87082B4B00B}">
      <dgm:prSet phldrT="[Texto]" phldr="0"/>
      <dgm:spPr/>
      <dgm:t>
        <a:bodyPr/>
        <a:lstStyle/>
        <a:p>
          <a:r>
            <a:rPr lang="es-ES" dirty="0"/>
            <a:t>Crea un identificador único de la información de tamaño fijo</a:t>
          </a:r>
        </a:p>
      </dgm:t>
    </dgm:pt>
    <dgm:pt modelId="{5ABBEF5D-E067-4699-A558-5254F76D866E}" type="parTrans" cxnId="{C02A07BD-3FC0-4C86-BB19-529C9A0BFDBF}">
      <dgm:prSet/>
      <dgm:spPr/>
      <dgm:t>
        <a:bodyPr/>
        <a:lstStyle/>
        <a:p>
          <a:endParaRPr lang="es-ES"/>
        </a:p>
      </dgm:t>
    </dgm:pt>
    <dgm:pt modelId="{51DC97B4-6420-4E36-9BAE-A6F29268D870}" type="sibTrans" cxnId="{C02A07BD-3FC0-4C86-BB19-529C9A0BFDBF}">
      <dgm:prSet/>
      <dgm:spPr/>
      <dgm:t>
        <a:bodyPr/>
        <a:lstStyle/>
        <a:p>
          <a:endParaRPr lang="es-ES"/>
        </a:p>
      </dgm:t>
    </dgm:pt>
    <dgm:pt modelId="{D1F8259D-3C96-471B-978A-F00CF2468EF9}">
      <dgm:prSet phldrT="[Texto]" phldr="0"/>
      <dgm:spPr/>
      <dgm:t>
        <a:bodyPr/>
        <a:lstStyle/>
        <a:p>
          <a:r>
            <a:rPr lang="es-ES" dirty="0"/>
            <a:t>Ese identificador se usa para compararlo y de esa manera ver si dos informaciones son iguales o no</a:t>
          </a:r>
        </a:p>
      </dgm:t>
    </dgm:pt>
    <dgm:pt modelId="{3AD8CEE6-51D9-4EAE-A085-2A706C6FF9EC}" type="parTrans" cxnId="{EBC9B6F0-E507-466B-BBE2-683802500701}">
      <dgm:prSet/>
      <dgm:spPr/>
      <dgm:t>
        <a:bodyPr/>
        <a:lstStyle/>
        <a:p>
          <a:endParaRPr lang="es-ES"/>
        </a:p>
      </dgm:t>
    </dgm:pt>
    <dgm:pt modelId="{03DE2E89-0A88-4AF9-893A-5EC911E6C945}" type="sibTrans" cxnId="{EBC9B6F0-E507-466B-BBE2-683802500701}">
      <dgm:prSet/>
      <dgm:spPr/>
      <dgm:t>
        <a:bodyPr/>
        <a:lstStyle/>
        <a:p>
          <a:endParaRPr lang="es-ES"/>
        </a:p>
      </dgm:t>
    </dgm:pt>
    <dgm:pt modelId="{A8A88069-573F-4603-89AF-61F01D4AA727}" type="pres">
      <dgm:prSet presAssocID="{B7F7CDFF-812F-4FE4-B995-33EC749DD89C}" presName="diagram" presStyleCnt="0">
        <dgm:presLayoutVars>
          <dgm:dir/>
          <dgm:resizeHandles val="exact"/>
        </dgm:presLayoutVars>
      </dgm:prSet>
      <dgm:spPr/>
    </dgm:pt>
    <dgm:pt modelId="{D4E4C01C-E3B4-400D-A145-5EDEB37F319B}" type="pres">
      <dgm:prSet presAssocID="{123F005F-4187-4D28-9890-021213BB3865}" presName="node" presStyleLbl="node1" presStyleIdx="0" presStyleCnt="3">
        <dgm:presLayoutVars>
          <dgm:bulletEnabled val="1"/>
        </dgm:presLayoutVars>
      </dgm:prSet>
      <dgm:spPr/>
    </dgm:pt>
    <dgm:pt modelId="{D80F8220-B442-4F17-931A-A45F68EAEDC5}" type="pres">
      <dgm:prSet presAssocID="{D3D08D78-935D-4773-95F6-3581E3E2DF00}" presName="sibTrans" presStyleCnt="0"/>
      <dgm:spPr/>
    </dgm:pt>
    <dgm:pt modelId="{26F8596F-9758-4365-8319-95E9CE17B7F7}" type="pres">
      <dgm:prSet presAssocID="{38E5C7DE-DF39-48AF-94BE-D87082B4B00B}" presName="node" presStyleLbl="node1" presStyleIdx="1" presStyleCnt="3">
        <dgm:presLayoutVars>
          <dgm:bulletEnabled val="1"/>
        </dgm:presLayoutVars>
      </dgm:prSet>
      <dgm:spPr/>
    </dgm:pt>
    <dgm:pt modelId="{88A152AC-3B15-4DEC-A9B0-CF7D588E6D75}" type="pres">
      <dgm:prSet presAssocID="{51DC97B4-6420-4E36-9BAE-A6F29268D870}" presName="sibTrans" presStyleCnt="0"/>
      <dgm:spPr/>
    </dgm:pt>
    <dgm:pt modelId="{F5EFBDFB-A4F0-4611-8225-FBFF7169AC24}" type="pres">
      <dgm:prSet presAssocID="{D1F8259D-3C96-471B-978A-F00CF2468EF9}" presName="node" presStyleLbl="node1" presStyleIdx="2" presStyleCnt="3">
        <dgm:presLayoutVars>
          <dgm:bulletEnabled val="1"/>
        </dgm:presLayoutVars>
      </dgm:prSet>
      <dgm:spPr/>
    </dgm:pt>
  </dgm:ptLst>
  <dgm:cxnLst>
    <dgm:cxn modelId="{70540823-8E23-4B09-A6D0-402D496344CC}" type="presOf" srcId="{123F005F-4187-4D28-9890-021213BB3865}" destId="{D4E4C01C-E3B4-400D-A145-5EDEB37F319B}" srcOrd="0" destOrd="0" presId="urn:microsoft.com/office/officeart/2005/8/layout/default"/>
    <dgm:cxn modelId="{DC0D4751-C8D5-41D3-AE8A-197F6661A59E}" type="presOf" srcId="{B7F7CDFF-812F-4FE4-B995-33EC749DD89C}" destId="{A8A88069-573F-4603-89AF-61F01D4AA727}" srcOrd="0" destOrd="0" presId="urn:microsoft.com/office/officeart/2005/8/layout/default"/>
    <dgm:cxn modelId="{A9933E74-F651-4955-BC16-1AC027B05031}" type="presOf" srcId="{38E5C7DE-DF39-48AF-94BE-D87082B4B00B}" destId="{26F8596F-9758-4365-8319-95E9CE17B7F7}" srcOrd="0" destOrd="0" presId="urn:microsoft.com/office/officeart/2005/8/layout/default"/>
    <dgm:cxn modelId="{D303E191-3B57-4B5C-8B1B-B7D93AFA7A32}" type="presOf" srcId="{D1F8259D-3C96-471B-978A-F00CF2468EF9}" destId="{F5EFBDFB-A4F0-4611-8225-FBFF7169AC24}" srcOrd="0" destOrd="0" presId="urn:microsoft.com/office/officeart/2005/8/layout/default"/>
    <dgm:cxn modelId="{90ABCFAB-9615-4044-BB12-9D114F0DBCFD}" srcId="{B7F7CDFF-812F-4FE4-B995-33EC749DD89C}" destId="{123F005F-4187-4D28-9890-021213BB3865}" srcOrd="0" destOrd="0" parTransId="{D2D449AE-FBCA-4D43-AC5A-CE7FE8D96935}" sibTransId="{D3D08D78-935D-4773-95F6-3581E3E2DF00}"/>
    <dgm:cxn modelId="{C02A07BD-3FC0-4C86-BB19-529C9A0BFDBF}" srcId="{B7F7CDFF-812F-4FE4-B995-33EC749DD89C}" destId="{38E5C7DE-DF39-48AF-94BE-D87082B4B00B}" srcOrd="1" destOrd="0" parTransId="{5ABBEF5D-E067-4699-A558-5254F76D866E}" sibTransId="{51DC97B4-6420-4E36-9BAE-A6F29268D870}"/>
    <dgm:cxn modelId="{EBC9B6F0-E507-466B-BBE2-683802500701}" srcId="{B7F7CDFF-812F-4FE4-B995-33EC749DD89C}" destId="{D1F8259D-3C96-471B-978A-F00CF2468EF9}" srcOrd="2" destOrd="0" parTransId="{3AD8CEE6-51D9-4EAE-A085-2A706C6FF9EC}" sibTransId="{03DE2E89-0A88-4AF9-893A-5EC911E6C945}"/>
    <dgm:cxn modelId="{1F11DEE3-75E6-4DA8-B215-97F1802A71F6}" type="presParOf" srcId="{A8A88069-573F-4603-89AF-61F01D4AA727}" destId="{D4E4C01C-E3B4-400D-A145-5EDEB37F319B}" srcOrd="0" destOrd="0" presId="urn:microsoft.com/office/officeart/2005/8/layout/default"/>
    <dgm:cxn modelId="{FA03E835-614C-4A86-A825-0F0DA1BAD512}" type="presParOf" srcId="{A8A88069-573F-4603-89AF-61F01D4AA727}" destId="{D80F8220-B442-4F17-931A-A45F68EAEDC5}" srcOrd="1" destOrd="0" presId="urn:microsoft.com/office/officeart/2005/8/layout/default"/>
    <dgm:cxn modelId="{2428469C-DEFF-4BBA-BA50-97F7872E87FD}" type="presParOf" srcId="{A8A88069-573F-4603-89AF-61F01D4AA727}" destId="{26F8596F-9758-4365-8319-95E9CE17B7F7}" srcOrd="2" destOrd="0" presId="urn:microsoft.com/office/officeart/2005/8/layout/default"/>
    <dgm:cxn modelId="{75F0B766-35D8-4A09-A017-B452920E52D6}" type="presParOf" srcId="{A8A88069-573F-4603-89AF-61F01D4AA727}" destId="{88A152AC-3B15-4DEC-A9B0-CF7D588E6D75}" srcOrd="3" destOrd="0" presId="urn:microsoft.com/office/officeart/2005/8/layout/default"/>
    <dgm:cxn modelId="{904650B0-D267-4869-901D-D78FD0C2A213}" type="presParOf" srcId="{A8A88069-573F-4603-89AF-61F01D4AA727}" destId="{F5EFBDFB-A4F0-4611-8225-FBFF7169AC24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4C01C-E3B4-400D-A145-5EDEB37F319B}">
      <dsp:nvSpPr>
        <dsp:cNvPr id="0" name=""/>
        <dsp:cNvSpPr/>
      </dsp:nvSpPr>
      <dsp:spPr>
        <a:xfrm>
          <a:off x="674391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Garantiza la integridad de la información.</a:t>
          </a:r>
        </a:p>
      </dsp:txBody>
      <dsp:txXfrm>
        <a:off x="674391" y="200"/>
        <a:ext cx="1901495" cy="1140897"/>
      </dsp:txXfrm>
    </dsp:sp>
    <dsp:sp modelId="{26F8596F-9758-4365-8319-95E9CE17B7F7}">
      <dsp:nvSpPr>
        <dsp:cNvPr id="0" name=""/>
        <dsp:cNvSpPr/>
      </dsp:nvSpPr>
      <dsp:spPr>
        <a:xfrm>
          <a:off x="2766036" y="200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Crea un identificador único de la información de tamaño fijo</a:t>
          </a:r>
        </a:p>
      </dsp:txBody>
      <dsp:txXfrm>
        <a:off x="2766036" y="200"/>
        <a:ext cx="1901495" cy="1140897"/>
      </dsp:txXfrm>
    </dsp:sp>
    <dsp:sp modelId="{F5EFBDFB-A4F0-4611-8225-FBFF7169AC24}">
      <dsp:nvSpPr>
        <dsp:cNvPr id="0" name=""/>
        <dsp:cNvSpPr/>
      </dsp:nvSpPr>
      <dsp:spPr>
        <a:xfrm>
          <a:off x="1720213" y="1331246"/>
          <a:ext cx="1901495" cy="1140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kern="1200" dirty="0"/>
            <a:t>Ese identificador se usa para compararlo y de esa manera ver si dos informaciones son iguales o no</a:t>
          </a:r>
        </a:p>
      </dsp:txBody>
      <dsp:txXfrm>
        <a:off x="1720213" y="1331246"/>
        <a:ext cx="1901495" cy="11408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G8785ZEFuM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467615"/>
              </p:ext>
            </p:extLst>
          </p:nvPr>
        </p:nvGraphicFramePr>
        <p:xfrm>
          <a:off x="1013576" y="2293113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 </a:t>
                      </a:r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B </a:t>
                      </a:r>
                      <a:r>
                        <a:rPr lang="es-ES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⊕</a:t>
                      </a:r>
                      <a:r>
                        <a:rPr lang="es-ES" dirty="0"/>
                        <a:t>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⊕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⊕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⊕ B ⊕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7B981B-269A-7AFA-9133-490D4C822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00</a:t>
            </a:r>
          </a:p>
        </p:txBody>
      </p:sp>
      <p:pic>
        <p:nvPicPr>
          <p:cNvPr id="5" name="Marcador de contenido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E54BC33F-F30F-A8A8-6C27-6AF06EF11D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608" y="2578100"/>
            <a:ext cx="6697134" cy="3767138"/>
          </a:xfrm>
        </p:spPr>
      </p:pic>
      <p:pic>
        <p:nvPicPr>
          <p:cNvPr id="7" name="Imagen 6" descr="Imagen de la pantalla de un video juego&#10;&#10;El contenido generado por IA puede ser incorrecto.">
            <a:extLst>
              <a:ext uri="{FF2B5EF4-FFF2-40B4-BE49-F238E27FC236}">
                <a16:creationId xmlns:a16="http://schemas.microsoft.com/office/drawing/2014/main" id="{33EBF84F-3EF6-9826-C536-C08122E2DF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5388"/>
            <a:ext cx="12192000" cy="662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857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XOR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pPr lvl="1"/>
            <a:r>
              <a:rPr lang="es-ES" dirty="0"/>
              <a:t>Todo el mundo posee tu clave pública y se utiliza de manera exclusiva para cifrar o firmar.</a:t>
            </a:r>
          </a:p>
          <a:p>
            <a:r>
              <a:rPr lang="es-ES" dirty="0"/>
              <a:t>Llave privada</a:t>
            </a:r>
          </a:p>
          <a:p>
            <a:pPr lvl="1"/>
            <a:r>
              <a:rPr lang="es-ES" dirty="0"/>
              <a:t>Solo la persona que es poseedora debe conocerla. Se utiliza para descifrar mensajes y para firmar datos.</a:t>
            </a:r>
          </a:p>
          <a:p>
            <a:r>
              <a:rPr lang="es-ES" dirty="0"/>
              <a:t>Función de no retorno</a:t>
            </a:r>
          </a:p>
          <a:p>
            <a:pPr lvl="1"/>
            <a:r>
              <a:rPr lang="es-ES" dirty="0"/>
              <a:t>No se puede hacer f</a:t>
            </a:r>
            <a:r>
              <a:rPr lang="es-ES" baseline="30000" dirty="0"/>
              <a:t>-1</a:t>
            </a:r>
            <a:r>
              <a:rPr lang="es-ES" dirty="0"/>
              <a:t>(M, publica) ya que es muy costoso computacionalmente y no es una función invertible.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AE07F04-8913-B4C8-DA55-05DDB4F9AF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255" y="705390"/>
            <a:ext cx="6520698" cy="6064250"/>
          </a:xfrm>
          <a:prstGeom prst="rect">
            <a:avLst/>
          </a:prstGeom>
          <a:noFill/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CD7F1D-07E2-3903-DA96-6A1583CBE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510" y="705390"/>
            <a:ext cx="4487697" cy="615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63188C-DC00-7E93-7502-BCF0E04D0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27199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4.1Criptografía hibrida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2C875EA-5666-FA68-F422-39A771259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779" y="1549154"/>
            <a:ext cx="8911055" cy="5034746"/>
          </a:xfrm>
          <a:noFill/>
        </p:spPr>
      </p:pic>
    </p:spTree>
    <p:extLst>
      <p:ext uri="{BB962C8B-B14F-4D97-AF65-F5344CB8AC3E}">
        <p14:creationId xmlns:p14="http://schemas.microsoft.com/office/powerpoint/2010/main" val="2482235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F65CAF2A-CFFA-DDFA-5FA4-2799431A4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676" y="725488"/>
            <a:ext cx="9820647" cy="6064250"/>
          </a:xfrm>
          <a:noFill/>
        </p:spPr>
      </p:pic>
    </p:spTree>
    <p:extLst>
      <p:ext uri="{BB962C8B-B14F-4D97-AF65-F5344CB8AC3E}">
        <p14:creationId xmlns:p14="http://schemas.microsoft.com/office/powerpoint/2010/main" val="16472284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540" y="1009867"/>
            <a:ext cx="11155680" cy="3767328"/>
          </a:xfrm>
        </p:spPr>
        <p:txBody>
          <a:bodyPr/>
          <a:lstStyle/>
          <a:p>
            <a:r>
              <a:rPr lang="es-ES" sz="2800" dirty="0"/>
              <a:t>La criptografía hibrida consiste en mezclar tanto </a:t>
            </a:r>
            <a:r>
              <a:rPr lang="es-ES" sz="2800" b="1" dirty="0"/>
              <a:t>criptografía asimétrica como simétrica</a:t>
            </a:r>
            <a:r>
              <a:rPr lang="es-ES" sz="2800" dirty="0"/>
              <a:t>.</a:t>
            </a:r>
          </a:p>
          <a:p>
            <a:r>
              <a:rPr lang="es-ES" sz="2800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CEB2A-DD61-6C28-F540-1FF565722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No se puede obtener la entrada con la salida</a:t>
            </a:r>
          </a:p>
        </p:txBody>
      </p:sp>
      <p:pic>
        <p:nvPicPr>
          <p:cNvPr id="14" name="Marcador de contenido 13" descr="Diagrama&#10;&#10;El contenido generado por IA puede ser incorrecto.">
            <a:extLst>
              <a:ext uri="{FF2B5EF4-FFF2-40B4-BE49-F238E27FC236}">
                <a16:creationId xmlns:a16="http://schemas.microsoft.com/office/drawing/2014/main" id="{539C6D86-AD17-4D8F-9460-2E94ABAD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278" y="3101381"/>
            <a:ext cx="8923793" cy="2720576"/>
          </a:xfrm>
        </p:spPr>
      </p:pic>
    </p:spTree>
    <p:extLst>
      <p:ext uri="{BB962C8B-B14F-4D97-AF65-F5344CB8AC3E}">
        <p14:creationId xmlns:p14="http://schemas.microsoft.com/office/powerpoint/2010/main" val="36057186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6970C-A2C4-1FDB-0D9C-DB8568CE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600" dirty="0"/>
              <a:t>¿Para que sirve una función hash?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6D89BE-4F0D-A042-1E79-CA30FC8B5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966212"/>
            <a:ext cx="11155680" cy="3767328"/>
          </a:xfrm>
        </p:spPr>
        <p:txBody>
          <a:bodyPr/>
          <a:lstStyle/>
          <a:p>
            <a:r>
              <a:rPr lang="es-ES" dirty="0"/>
              <a:t>Una función hash sirve para </a:t>
            </a:r>
            <a:r>
              <a:rPr lang="es-ES" b="1" dirty="0"/>
              <a:t>convertir cualquier información en una huella digital única</a:t>
            </a:r>
            <a:r>
              <a:rPr lang="es-ES" dirty="0"/>
              <a:t>, de tamaño fijo.</a:t>
            </a:r>
            <a:br>
              <a:rPr lang="es-ES" dirty="0"/>
            </a:br>
            <a:r>
              <a:rPr lang="es-ES" dirty="0"/>
              <a:t>Se usa para </a:t>
            </a:r>
            <a:r>
              <a:rPr lang="es-ES" b="1" dirty="0"/>
              <a:t>verificar la integridad</a:t>
            </a:r>
            <a:r>
              <a:rPr lang="es-ES" dirty="0"/>
              <a:t> de los datos, asegurarse de que </a:t>
            </a:r>
            <a:r>
              <a:rPr lang="es-ES" b="1" dirty="0"/>
              <a:t>no fueron modificados</a:t>
            </a:r>
            <a:r>
              <a:rPr lang="es-ES" dirty="0"/>
              <a:t>.</a:t>
            </a:r>
          </a:p>
          <a:p>
            <a:r>
              <a:rPr lang="es-ES" dirty="0"/>
              <a:t>Su uso no es exclusivo de la criptografía, pero en esta disciplina se emplea para garantizar la integridad de los datos.</a:t>
            </a:r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14735A8-EF4C-D679-6CA1-9205B5F601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470528"/>
              </p:ext>
            </p:extLst>
          </p:nvPr>
        </p:nvGraphicFramePr>
        <p:xfrm>
          <a:off x="3421990" y="3849876"/>
          <a:ext cx="5341923" cy="24723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656223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>
            <a:normAutofit/>
          </a:bodyPr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  <p:pic>
        <p:nvPicPr>
          <p:cNvPr id="5" name="Imagen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389856F-A88D-7B72-CF36-5604CB05D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672" y="2951112"/>
            <a:ext cx="5166360" cy="302232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FFC67E9-EA48-09B8-51FD-553718B9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8660" y="725488"/>
            <a:ext cx="7774679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7995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78D6E6C-48C7-C0EC-F19B-EB8C0EA79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4935" y="725488"/>
            <a:ext cx="10322130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437286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rmAutofit/>
          </a:bodyPr>
          <a:lstStyle/>
          <a:p>
            <a:r>
              <a:rPr lang="es-ES" dirty="0"/>
              <a:t>SHA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2552447A-615E-27B1-DBC4-089FC0914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0031" y="2278156"/>
            <a:ext cx="6186001" cy="3324975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0592" y="2208276"/>
            <a:ext cx="5020056" cy="2770632"/>
          </a:xfrm>
        </p:spPr>
        <p:txBody>
          <a:bodyPr>
            <a:normAutofit/>
          </a:bodyPr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r>
              <a:rPr lang="es-ES" dirty="0">
                <a:hlinkClick r:id="rId3"/>
              </a:rPr>
              <a:t>https://www.youtube.com/watch?v=pG8785ZEFuM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3CF537-3A50-2CE6-6FB8-B588F10E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Algunas funciones del hash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332BE2-73E2-4B41-75C4-9B7D68520A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1953919"/>
            <a:ext cx="11155680" cy="3767328"/>
          </a:xfrm>
        </p:spPr>
        <p:txBody>
          <a:bodyPr/>
          <a:lstStyle/>
          <a:p>
            <a:r>
              <a:rPr lang="es-ES" dirty="0"/>
              <a:t>Búsqueda rápida por indexación.  </a:t>
            </a:r>
          </a:p>
          <a:p>
            <a:pPr lvl="1"/>
            <a:r>
              <a:rPr lang="es-ES" dirty="0"/>
              <a:t>En vez de comparar archivos enteros se comparan solo los hashes de los archivos.</a:t>
            </a:r>
          </a:p>
          <a:p>
            <a:r>
              <a:rPr lang="es-ES" dirty="0"/>
              <a:t>Detección de elementos duplicados. </a:t>
            </a:r>
          </a:p>
          <a:p>
            <a:pPr lvl="1"/>
            <a:r>
              <a:rPr lang="es-ES" dirty="0"/>
              <a:t>Al comparar el hash de un archivo y otro puedes saber si son o no idénticos.</a:t>
            </a:r>
          </a:p>
          <a:p>
            <a:r>
              <a:rPr lang="es-ES" dirty="0"/>
              <a:t>Integridad de la información.</a:t>
            </a:r>
          </a:p>
          <a:p>
            <a:pPr lvl="1"/>
            <a:r>
              <a:rPr lang="es-ES" dirty="0"/>
              <a:t>Si guardas el hash de un archivo puedes saber si ha sido o no modificado mirando el hash.</a:t>
            </a:r>
          </a:p>
          <a:p>
            <a:r>
              <a:rPr lang="es-ES" dirty="0"/>
              <a:t>Integración y verificación de datos. </a:t>
            </a:r>
          </a:p>
          <a:p>
            <a:pPr lvl="1"/>
            <a:r>
              <a:rPr lang="es-ES" dirty="0"/>
              <a:t>Nuevamente, con el hash puedes ver si el archivo ha sido o no modificado.</a:t>
            </a:r>
          </a:p>
          <a:p>
            <a:r>
              <a:rPr lang="es-ES" dirty="0"/>
              <a:t>Medida preventiva al filtrado de bases de datos.</a:t>
            </a:r>
          </a:p>
          <a:p>
            <a:pPr lvl="1"/>
            <a:r>
              <a:rPr lang="es-ES" dirty="0"/>
              <a:t>Si guardas información que solo necesitas </a:t>
            </a:r>
            <a:r>
              <a:rPr lang="es-ES" dirty="0" err="1"/>
              <a:t>checkear</a:t>
            </a:r>
            <a:r>
              <a:rPr lang="es-ES" dirty="0"/>
              <a:t> con un hash entonces no se revela.</a:t>
            </a:r>
          </a:p>
        </p:txBody>
      </p:sp>
    </p:spTree>
    <p:extLst>
      <p:ext uri="{BB962C8B-B14F-4D97-AF65-F5344CB8AC3E}">
        <p14:creationId xmlns:p14="http://schemas.microsoft.com/office/powerpoint/2010/main" val="3039251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11155680" cy="1759928"/>
          </a:xfrm>
        </p:spPr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F19A0B-2C61-2FCE-2FFF-CD1C469F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Métodos para las 5 claves de la protección de los datos.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23C4CB1D-72D4-C79C-5BCA-DD00F2CEE0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3063354"/>
              </p:ext>
            </p:extLst>
          </p:nvPr>
        </p:nvGraphicFramePr>
        <p:xfrm>
          <a:off x="520700" y="2578100"/>
          <a:ext cx="111569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8475">
                  <a:extLst>
                    <a:ext uri="{9D8B030D-6E8A-4147-A177-3AD203B41FA5}">
                      <a16:colId xmlns:a16="http://schemas.microsoft.com/office/drawing/2014/main" val="1432782465"/>
                    </a:ext>
                  </a:extLst>
                </a:gridCol>
                <a:gridCol w="5578475">
                  <a:extLst>
                    <a:ext uri="{9D8B030D-6E8A-4147-A177-3AD203B41FA5}">
                      <a16:colId xmlns:a16="http://schemas.microsoft.com/office/drawing/2014/main" val="10156609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s-ES" dirty="0"/>
                        <a:t>FIN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PROTOCOLO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4290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Confidencialidad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0" dirty="0"/>
                        <a:t>AES, DES, 3DES, ChaCha20, RSA</a:t>
                      </a:r>
                      <a:r>
                        <a:rPr lang="es-ES" b="0" dirty="0"/>
                        <a:t>…</a:t>
                      </a:r>
                      <a:endParaRPr lang="fr-FR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334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Integridad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dirty="0"/>
                        <a:t>SHA-2 SHA-3 MD5 HMAC SHA-256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161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983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Autorización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RSA ECC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3512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No repudio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Firmas digitales (RSA, DSA, ECDSA), certificados digitales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9837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5670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967FD3-1BF9-0175-31F2-84C9A905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FIN</a:t>
            </a:r>
          </a:p>
        </p:txBody>
      </p:sp>
      <p:pic>
        <p:nvPicPr>
          <p:cNvPr id="5" name="Picture 4" descr="Perro asomándose por la ventana">
            <a:extLst>
              <a:ext uri="{FF2B5EF4-FFF2-40B4-BE49-F238E27FC236}">
                <a16:creationId xmlns:a16="http://schemas.microsoft.com/office/drawing/2014/main" id="{09740010-5E3A-5FCA-1475-F3AFD51092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289" r="-1" b="19118"/>
          <a:stretch>
            <a:fillRect/>
          </a:stretch>
        </p:blipFill>
        <p:spPr>
          <a:xfrm>
            <a:off x="521208" y="2578608"/>
            <a:ext cx="11155680" cy="376732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34551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3537</TotalTime>
  <Words>1577</Words>
  <Application>Microsoft Office PowerPoint</Application>
  <PresentationFormat>Panorámica</PresentationFormat>
  <Paragraphs>189</Paragraphs>
  <Slides>48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48</vt:i4>
      </vt:variant>
    </vt:vector>
  </HeadingPairs>
  <TitlesOfParts>
    <vt:vector size="51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00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4.1Criptografía hibrida</vt:lpstr>
      <vt:lpstr>Presentación de PowerPoint</vt:lpstr>
      <vt:lpstr>Presentación de PowerPoint</vt:lpstr>
      <vt:lpstr>5. Funciones Hash</vt:lpstr>
      <vt:lpstr>No se puede obtener la entrada con la salida</vt:lpstr>
      <vt:lpstr>¿Para que sirve una función hash?</vt:lpstr>
      <vt:lpstr>Conceptos clave</vt:lpstr>
      <vt:lpstr>Presentación de PowerPoint</vt:lpstr>
      <vt:lpstr>Presentación de PowerPoint</vt:lpstr>
      <vt:lpstr>SHA</vt:lpstr>
      <vt:lpstr>Algunas funciones del hash</vt:lpstr>
      <vt:lpstr>¿Por qué es buena práctica cifrar la base de datos?</vt:lpstr>
      <vt:lpstr>Problemas con el prompt inyection.</vt:lpstr>
      <vt:lpstr>Métodos para las 5 claves de la protección de los datos.</vt:lpstr>
      <vt:lpstr>Bibliografía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48</cp:revision>
  <dcterms:created xsi:type="dcterms:W3CDTF">2025-10-08T12:18:35Z</dcterms:created>
  <dcterms:modified xsi:type="dcterms:W3CDTF">2025-11-09T23:13:48Z</dcterms:modified>
</cp:coreProperties>
</file>